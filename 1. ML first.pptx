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305" r:id="rId4"/>
    <p:sldId id="298" r:id="rId5"/>
    <p:sldId id="306" r:id="rId6"/>
    <p:sldId id="304" r:id="rId7"/>
    <p:sldId id="307" r:id="rId8"/>
    <p:sldId id="308" r:id="rId9"/>
    <p:sldId id="309" r:id="rId10"/>
    <p:sldId id="311" r:id="rId11"/>
    <p:sldId id="312" r:id="rId12"/>
    <p:sldId id="313" r:id="rId13"/>
    <p:sldId id="314" r:id="rId14"/>
    <p:sldId id="315" r:id="rId15"/>
    <p:sldId id="310" r:id="rId1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844" autoAdjust="0"/>
  </p:normalViewPr>
  <p:slideViewPr>
    <p:cSldViewPr snapToGrid="0" snapToObjects="1">
      <p:cViewPr varScale="1">
        <p:scale>
          <a:sx n="89" d="100"/>
          <a:sy n="89" d="100"/>
        </p:scale>
        <p:origin x="101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490935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Глубокое обучение </a:t>
            </a:r>
            <a:endParaRPr lang="ru-R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3943" y="285886"/>
            <a:ext cx="498303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Глубокое обучение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3943" y="1302896"/>
            <a:ext cx="1297910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это подмножество методов машинного обучения, области изучения и создания машин, которые могут обучаться.</a:t>
            </a:r>
          </a:p>
          <a:p>
            <a:pPr algn="ctr"/>
            <a:r>
              <a:rPr lang="ru-RU" sz="2800" dirty="0"/>
              <a:t>Глубокое обучение используется в промышленности для решения практических задач в самых разных областях, таких как компьютерное зрение (изображения), обработка естественного языка (текст) и автоматическое распознавание речи. Проще говоря, глубокое обучение — это подмножество методов машинного обучения, главным образом основанных на применении искусственных нейронных сетей, которые представляют класс алгоритмов, подражающих</a:t>
            </a:r>
          </a:p>
          <a:p>
            <a:pPr algn="ctr"/>
            <a:r>
              <a:rPr lang="ru-RU" sz="2800" dirty="0"/>
              <a:t>человеческому мозгу.</a:t>
            </a:r>
            <a:endParaRPr sz="2800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6C8D5-71D1-1D65-F038-409582E10C16}"/>
              </a:ext>
            </a:extLst>
          </p:cNvPr>
          <p:cNvSpPr txBox="1"/>
          <p:nvPr/>
        </p:nvSpPr>
        <p:spPr>
          <a:xfrm>
            <a:off x="10596284" y="6386789"/>
            <a:ext cx="3818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/>
              <a:t>«Если объект похож на другие объекты определённого класса, то, скорее всего, он принадлежит к этому же классу.»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536300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Машинное обучение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2F4BFC-5878-0AC3-A04E-D76E754D7B67}"/>
              </a:ext>
            </a:extLst>
          </p:cNvPr>
          <p:cNvSpPr txBox="1"/>
          <p:nvPr/>
        </p:nvSpPr>
        <p:spPr>
          <a:xfrm>
            <a:off x="717155" y="1937108"/>
            <a:ext cx="122619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Машинное обучение — это область </a:t>
            </a:r>
            <a:r>
              <a:rPr lang="ru-RU" sz="2800" dirty="0" err="1">
                <a:solidFill>
                  <a:schemeClr val="bg1"/>
                </a:solidFill>
              </a:rPr>
              <a:t>computer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err="1">
                <a:solidFill>
                  <a:schemeClr val="bg1"/>
                </a:solidFill>
              </a:rPr>
              <a:t>science</a:t>
            </a:r>
            <a:r>
              <a:rPr lang="ru-RU" sz="2800" dirty="0">
                <a:solidFill>
                  <a:schemeClr val="bg1"/>
                </a:solidFill>
              </a:rPr>
              <a:t>,</a:t>
            </a:r>
          </a:p>
          <a:p>
            <a:pPr algn="ctr"/>
            <a:r>
              <a:rPr lang="ru-RU" sz="2800" dirty="0">
                <a:solidFill>
                  <a:schemeClr val="bg1"/>
                </a:solidFill>
              </a:rPr>
              <a:t>в которой машины учатся решать задачи, для которых они не были запрограммированы непосредственно. Проще говоря, машины наблюдают закономерности и пытаются прямо или косвенно некоторым способом имитировать их</a:t>
            </a:r>
          </a:p>
        </p:txBody>
      </p:sp>
    </p:spTree>
    <p:extLst>
      <p:ext uri="{BB962C8B-B14F-4D97-AF65-F5344CB8AC3E}">
        <p14:creationId xmlns:p14="http://schemas.microsoft.com/office/powerpoint/2010/main" val="261200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диаграмма, линия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FDB476DD-6379-EC05-6540-1B6CBC479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178" y="0"/>
            <a:ext cx="10533888" cy="8229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9397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541193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Обучение с учителем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F2EE-082F-3D64-0707-610E55007F80}"/>
              </a:ext>
            </a:extLst>
          </p:cNvPr>
          <p:cNvSpPr txBox="1"/>
          <p:nvPr/>
        </p:nvSpPr>
        <p:spPr>
          <a:xfrm>
            <a:off x="753035" y="1431287"/>
            <a:ext cx="1312433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Этот подход подразумевает обучение алгоритма МО на размеченных наборах данных. Для каждого примера в обучающем наборе алгоритм знает, какой результат является правильным. Он использует эти знания, чтобы попытаться обобщить их на новые примеры, которые он никогда раньше не видел. В размеченных данных каждый «вход» связан с правильным «выходом».</a:t>
            </a:r>
          </a:p>
          <a:p>
            <a:pPr algn="ctr"/>
            <a:endParaRPr lang="ru-RU" sz="2800" dirty="0">
              <a:solidFill>
                <a:schemeClr val="bg1"/>
              </a:solidFill>
            </a:endParaRPr>
          </a:p>
          <a:p>
            <a:pPr algn="ctr"/>
            <a:r>
              <a:rPr lang="ru-RU" sz="2800" dirty="0">
                <a:solidFill>
                  <a:schemeClr val="bg1"/>
                </a:solidFill>
              </a:rPr>
              <a:t>Обучение с учителем состоит из двух подкатегорий: классификации и регрессии.</a:t>
            </a:r>
          </a:p>
        </p:txBody>
      </p:sp>
    </p:spTree>
    <p:extLst>
      <p:ext uri="{BB962C8B-B14F-4D97-AF65-F5344CB8AC3E}">
        <p14:creationId xmlns:p14="http://schemas.microsoft.com/office/powerpoint/2010/main" val="75003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5457" y="41629"/>
            <a:ext cx="405181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sz="4400" dirty="0"/>
              <a:t>Классификации</a:t>
            </a:r>
            <a:endParaRPr lang="ru-RU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3C1C1F-60FB-D2B5-D017-CE7E89736C1C}"/>
              </a:ext>
            </a:extLst>
          </p:cNvPr>
          <p:cNvSpPr txBox="1"/>
          <p:nvPr/>
        </p:nvSpPr>
        <p:spPr>
          <a:xfrm>
            <a:off x="0" y="2716149"/>
            <a:ext cx="65208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Здравоохранение</a:t>
            </a:r>
            <a:r>
              <a:rPr lang="ru-RU" dirty="0"/>
              <a:t>. </a:t>
            </a:r>
          </a:p>
          <a:p>
            <a:pPr algn="ctr"/>
            <a:r>
              <a:rPr lang="ru-RU" dirty="0"/>
              <a:t>Обучение модели на исторических данных пациентов может помочь медицинским специалистам точно анализировать диагнозы. Во время пандемии COVID-19 были внедрены модели для эффективного прогнозирования наличия у человека COVID-19 или его отсутствия.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3A3577-70CB-8714-877C-94912D683A8E}"/>
              </a:ext>
            </a:extLst>
          </p:cNvPr>
          <p:cNvSpPr txBox="1"/>
          <p:nvPr/>
        </p:nvSpPr>
        <p:spPr>
          <a:xfrm>
            <a:off x="87331" y="5169191"/>
            <a:ext cx="63461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Транспорт</a:t>
            </a:r>
            <a:r>
              <a:rPr lang="ru-RU" dirty="0"/>
              <a:t>. </a:t>
            </a:r>
          </a:p>
          <a:p>
            <a:pPr algn="ctr"/>
            <a:r>
              <a:rPr lang="ru-RU" dirty="0"/>
              <a:t>В этой отрасли используют модели машинного и глубокого обучения для  прогнозирования увеличения трафика в определённом географическом районе, потенциальных проблем дорожного движения из-за погодных условий и т. д. </a:t>
            </a:r>
            <a:endParaRPr lang="ru-RU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EE296-659A-DC87-392C-C61C2529FDD1}"/>
              </a:ext>
            </a:extLst>
          </p:cNvPr>
          <p:cNvSpPr txBox="1"/>
          <p:nvPr/>
        </p:nvSpPr>
        <p:spPr>
          <a:xfrm>
            <a:off x="6809590" y="2716149"/>
            <a:ext cx="70973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Образование</a:t>
            </a:r>
            <a:r>
              <a:rPr lang="ru-RU" dirty="0"/>
              <a:t>. </a:t>
            </a:r>
          </a:p>
          <a:p>
            <a:pPr algn="ctr"/>
            <a:r>
              <a:rPr lang="ru-RU" dirty="0"/>
              <a:t>Неструктурированная информация из текстовых, видео- и аудиоданных может быть проанализирована с помощью моделей обработки естественного языка для выполнения таких задач, как классификация документов по категориям, автоматическое определение языка документов от студентов при подаче заявления, анализ студенческих отзывов.</a:t>
            </a:r>
            <a:endParaRPr lang="ru-RU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56B343-39EE-2F9F-6256-C52FCFD7CF84}"/>
              </a:ext>
            </a:extLst>
          </p:cNvPr>
          <p:cNvSpPr txBox="1"/>
          <p:nvPr/>
        </p:nvSpPr>
        <p:spPr>
          <a:xfrm>
            <a:off x="7481942" y="5273190"/>
            <a:ext cx="5752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Устойчивое сельское хозяйство</a:t>
            </a:r>
            <a:r>
              <a:rPr lang="ru-RU" dirty="0"/>
              <a:t>. </a:t>
            </a:r>
          </a:p>
          <a:p>
            <a:pPr algn="ctr"/>
            <a:r>
              <a:rPr lang="ru-RU" dirty="0"/>
              <a:t>Используя модели классификации, можно предсказать, какой тип земли лучше подходит для конкретного типа семян.</a:t>
            </a:r>
            <a:endParaRPr lang="ru-RU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0577A-F26D-0276-3472-863CE0346496}"/>
              </a:ext>
            </a:extLst>
          </p:cNvPr>
          <p:cNvSpPr txBox="1"/>
          <p:nvPr/>
        </p:nvSpPr>
        <p:spPr>
          <a:xfrm>
            <a:off x="285077" y="848140"/>
            <a:ext cx="92139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В классификации модель предсказывает правильную метку входных данных. Она полностью обучается и проходит тестовую оценку. Затем её можно применять для прогнозирования на новых, неизвестных данных.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33B14B-9E24-3D7C-5A48-ED8B63BE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000" y="348323"/>
            <a:ext cx="2471402" cy="201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30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793" y="302266"/>
            <a:ext cx="261295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Регрессия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750A6-580B-43FF-F7AE-F1D4B9CEF67E}"/>
              </a:ext>
            </a:extLst>
          </p:cNvPr>
          <p:cNvSpPr txBox="1"/>
          <p:nvPr/>
        </p:nvSpPr>
        <p:spPr>
          <a:xfrm>
            <a:off x="746416" y="1020933"/>
            <a:ext cx="119583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Другая подкатегория обучения с учителем — регрессия, результатом которой является непрерывное значение. Например, вероятность или цена. Бывают линейные и логистические регрессии.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5CFBC5-F611-13EC-7A16-1536C354E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831" y="5094155"/>
            <a:ext cx="6109777" cy="26027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7C9AAE-FFAE-3E39-E0F4-DA165D9CABAA}"/>
              </a:ext>
            </a:extLst>
          </p:cNvPr>
          <p:cNvSpPr txBox="1"/>
          <p:nvPr/>
        </p:nvSpPr>
        <p:spPr>
          <a:xfrm>
            <a:off x="193638" y="2503165"/>
            <a:ext cx="71215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Линейная регрессия.</a:t>
            </a:r>
            <a:r>
              <a:rPr lang="ru-RU" dirty="0"/>
              <a:t> </a:t>
            </a:r>
          </a:p>
          <a:p>
            <a:pPr algn="just"/>
            <a:r>
              <a:rPr lang="ru-RU" dirty="0"/>
              <a:t>Простой алгоритм, который моделирует линейную связь между одной или несколькими объясняющими переменными и непрерывной числовой выходной переменной. Он быстрее обучается по сравнению с другими алгоритмами машинного обучения. Его самое большое преимущество заключается в способности объяснять и интерпретировать прогнозы модели. Используется для прогнозирования продаж или для предсказания непрерывных значений, таких как цены на жильё, например.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9099F9-02AA-27B1-00AD-B45D2D4024AC}"/>
              </a:ext>
            </a:extLst>
          </p:cNvPr>
          <p:cNvSpPr txBox="1"/>
          <p:nvPr/>
        </p:nvSpPr>
        <p:spPr>
          <a:xfrm>
            <a:off x="7971416" y="2508832"/>
            <a:ext cx="57392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Логистическая регрессия.</a:t>
            </a:r>
            <a:r>
              <a:rPr lang="ru-RU" dirty="0"/>
              <a:t> </a:t>
            </a:r>
          </a:p>
          <a:p>
            <a:pPr algn="just"/>
            <a:r>
              <a:rPr lang="ru-RU" dirty="0"/>
              <a:t>Не выполняет статистическую классификацию, а оценивает параметры логистической модели. Причина, по которой её можно применять для классификации, заключается в границе принятия решений, которая вставляется для разделения классов. Таким образом, в своей самой простой форме логистическая регрессия использует логистическую функцию для моделирования бинарных зависимых переменных.</a:t>
            </a:r>
          </a:p>
        </p:txBody>
      </p:sp>
    </p:spTree>
    <p:extLst>
      <p:ext uri="{BB962C8B-B14F-4D97-AF65-F5344CB8AC3E}">
        <p14:creationId xmlns:p14="http://schemas.microsoft.com/office/powerpoint/2010/main" val="409698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220246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Минусы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9503D-E006-E25B-3E40-0FC427E4F441}"/>
              </a:ext>
            </a:extLst>
          </p:cNvPr>
          <p:cNvSpPr txBox="1"/>
          <p:nvPr/>
        </p:nvSpPr>
        <p:spPr>
          <a:xfrm>
            <a:off x="774551" y="1813577"/>
            <a:ext cx="126671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проблема доступности данных;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зависимость надёжности прогнозов и эффективности модели от качества и согласованности разметки;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зависимость производительности модели от правильно выбранных входных переменных;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сложность масштабирования;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ограниченность закономерностей, поскольку они только в пределах предоставленных наборов обучающих данных;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высокая вычислительная стоимость.</a:t>
            </a:r>
          </a:p>
        </p:txBody>
      </p:sp>
    </p:spTree>
    <p:extLst>
      <p:ext uri="{BB962C8B-B14F-4D97-AF65-F5344CB8AC3E}">
        <p14:creationId xmlns:p14="http://schemas.microsoft.com/office/powerpoint/2010/main" val="201292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532" y="274320"/>
            <a:ext cx="55987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b="1" dirty="0"/>
              <a:t>Обучение без учителя</a:t>
            </a:r>
            <a:endParaRPr lang="ru-RU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3B21E-6D13-78D3-2AA9-AB169A9E2EDB}"/>
              </a:ext>
            </a:extLst>
          </p:cNvPr>
          <p:cNvSpPr txBox="1"/>
          <p:nvPr/>
        </p:nvSpPr>
        <p:spPr>
          <a:xfrm>
            <a:off x="1124174" y="2346103"/>
            <a:ext cx="123820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Обучение без учителя и обучение с учителем обладают одним общим свойством: они оба преобразуют один набор данных в другой. Но в обучении без учителя набор данных, в который происходит преобразование, прежде не был известен. В отличие от обучения с учителем, здесь нет «правильного ответа», который модель должна воспроизвести. Вы просто даете команду алгоритму «найти закономерности в этих данных и сообщить о них».</a:t>
            </a:r>
          </a:p>
        </p:txBody>
      </p:sp>
    </p:spTree>
    <p:extLst>
      <p:ext uri="{BB962C8B-B14F-4D97-AF65-F5344CB8AC3E}">
        <p14:creationId xmlns:p14="http://schemas.microsoft.com/office/powerpoint/2010/main" val="4244350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386157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Кластеризация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9503D-E006-E25B-3E40-0FC427E4F441}"/>
              </a:ext>
            </a:extLst>
          </p:cNvPr>
          <p:cNvSpPr txBox="1"/>
          <p:nvPr/>
        </p:nvSpPr>
        <p:spPr>
          <a:xfrm>
            <a:off x="225911" y="1402943"/>
            <a:ext cx="140046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Например, кластеризация набора данных на группы — это разновидность обучения без учителя. Кластеризация преобразует последовательность точек данных в последовательность меток кластеров. Часто роль меток играют последовательные целые числа, например, в случае 10 кластерами будут созданы метки от 1 до 10. Каждая точка данных получит метку, в зависимости от того, к какому кластеру она будет отнесена. Набор данных, состоящий из точек, превратится в набор меток. Почему в качестве меток часто выбираются числа? Алгоритм ничего не может сказать о природе кластеров, он лишь сообщает вам: «Я обнаружил тут некоторые закономерности. Похоже, что ваши данные делятся на группы. Вот они!»</a:t>
            </a:r>
          </a:p>
        </p:txBody>
      </p:sp>
    </p:spTree>
    <p:extLst>
      <p:ext uri="{BB962C8B-B14F-4D97-AF65-F5344CB8AC3E}">
        <p14:creationId xmlns:p14="http://schemas.microsoft.com/office/powerpoint/2010/main" val="2874104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Рисунок 6" descr="Изображение выглядит как текст, диаграмма, карта&#10;&#10;Автоматически созданное описание">
            <a:extLst>
              <a:ext uri="{FF2B5EF4-FFF2-40B4-BE49-F238E27FC236}">
                <a16:creationId xmlns:a16="http://schemas.microsoft.com/office/drawing/2014/main" id="{61BF1720-3B8E-E99C-0AB4-E80873558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603" y="45604"/>
            <a:ext cx="9401202" cy="758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88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100966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Ассоциация и сокращение размерности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9503D-E006-E25B-3E40-0FC427E4F441}"/>
              </a:ext>
            </a:extLst>
          </p:cNvPr>
          <p:cNvSpPr txBox="1"/>
          <p:nvPr/>
        </p:nvSpPr>
        <p:spPr>
          <a:xfrm>
            <a:off x="225911" y="1402943"/>
            <a:ext cx="1400466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Поиск связей между переменными. Правила ассоциации часто применяются в аналитике потребительских корзин.</a:t>
            </a:r>
          </a:p>
          <a:p>
            <a:pPr algn="ctr"/>
            <a:endParaRPr lang="ru-RU" sz="2800" dirty="0">
              <a:solidFill>
                <a:schemeClr val="bg1"/>
              </a:solidFill>
            </a:endParaRP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Сокращение размерности</a:t>
            </a:r>
            <a:r>
              <a:rPr lang="ru-RU" sz="2800" dirty="0">
                <a:solidFill>
                  <a:schemeClr val="bg1"/>
                </a:solidFill>
              </a:rPr>
              <a:t>. Алгоритм количественно сокращает переменные в данных, но при этом стремится сохранить как можно больше информации. Этот метод применяется во время предварительной работы с данными. Пример: улучшение качества изображения посредством удаления шума при помощи </a:t>
            </a:r>
            <a:r>
              <a:rPr lang="ru-RU" sz="2800" dirty="0" err="1">
                <a:solidFill>
                  <a:schemeClr val="bg1"/>
                </a:solidFill>
              </a:rPr>
              <a:t>автокодировщика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3836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4AD34-CFF1-F95D-1E45-D3EF0ABFFAEE}"/>
              </a:ext>
            </a:extLst>
          </p:cNvPr>
          <p:cNvSpPr txBox="1"/>
          <p:nvPr/>
        </p:nvSpPr>
        <p:spPr>
          <a:xfrm>
            <a:off x="333488" y="1650905"/>
            <a:ext cx="735823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8.5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9.5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F3595-F02D-F0AB-6597-396E89A04345}"/>
              </a:ext>
            </a:extLst>
          </p:cNvPr>
          <p:cNvSpPr txBox="1"/>
          <p:nvPr/>
        </p:nvSpPr>
        <p:spPr>
          <a:xfrm>
            <a:off x="625737" y="289929"/>
            <a:ext cx="612084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/>
              <a:t>Простая нейронная сеть</a:t>
            </a:r>
          </a:p>
        </p:txBody>
      </p:sp>
      <p:pic>
        <p:nvPicPr>
          <p:cNvPr id="9" name="Рисунок 8" descr="Изображение выглядит как текст, круг, снимок экрана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DDD34A20-BF6F-1BE4-4260-AF0C1E178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874" y="1650905"/>
            <a:ext cx="7207964" cy="4724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3A83F6-7C47-F8D5-67ED-7A12B988F177}"/>
              </a:ext>
            </a:extLst>
          </p:cNvPr>
          <p:cNvSpPr txBox="1"/>
          <p:nvPr/>
        </p:nvSpPr>
        <p:spPr>
          <a:xfrm>
            <a:off x="3255302" y="6006599"/>
            <a:ext cx="39695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/>
              <a:t>Так что же такое нейронная сеть? На данный момент</a:t>
            </a:r>
          </a:p>
          <a:p>
            <a:pPr algn="ctr"/>
            <a:r>
              <a:rPr lang="ru-RU" i="1" dirty="0"/>
              <a:t>это один или несколько весовых коэффициентов, на которые можно умножить входные данные и получить прогноз.</a:t>
            </a:r>
          </a:p>
        </p:txBody>
      </p:sp>
    </p:spTree>
    <p:extLst>
      <p:ext uri="{BB962C8B-B14F-4D97-AF65-F5344CB8AC3E}">
        <p14:creationId xmlns:p14="http://schemas.microsoft.com/office/powerpoint/2010/main" val="2563719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585929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Нужно больше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164A-914D-8DD5-3F67-BE329CDC4BD5}"/>
              </a:ext>
            </a:extLst>
          </p:cNvPr>
          <p:cNvSpPr txBox="1"/>
          <p:nvPr/>
        </p:nvSpPr>
        <p:spPr>
          <a:xfrm>
            <a:off x="44824" y="891054"/>
            <a:ext cx="735823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w_sum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de-DE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de-DE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endParaRPr lang="de-DE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w_sum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endParaRPr lang="de-DE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8.5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9.5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9.9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0.65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9" name="Рисунок 8" descr="Изображение выглядит как текст, диаграмма, шаблон, оригами&#10;&#10;Автоматически созданное описание">
            <a:extLst>
              <a:ext uri="{FF2B5EF4-FFF2-40B4-BE49-F238E27FC236}">
                <a16:creationId xmlns:a16="http://schemas.microsoft.com/office/drawing/2014/main" id="{E2467192-09DD-5A20-7055-599D94671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419" y="908274"/>
            <a:ext cx="7097115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945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69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</TotalTime>
  <Words>1048</Words>
  <Application>Microsoft Office PowerPoint</Application>
  <PresentationFormat>Произвольный</PresentationFormat>
  <Paragraphs>70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Илья Паньковский</dc:creator>
  <cp:keywords/>
  <dc:description>generated using python-pptx</dc:description>
  <cp:lastModifiedBy>Илья Паньковский</cp:lastModifiedBy>
  <cp:revision>282</cp:revision>
  <dcterms:created xsi:type="dcterms:W3CDTF">2013-01-27T09:14:16Z</dcterms:created>
  <dcterms:modified xsi:type="dcterms:W3CDTF">2026-01-31T21:33:04Z</dcterms:modified>
  <cp:category/>
</cp:coreProperties>
</file>