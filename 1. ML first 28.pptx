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305" r:id="rId4"/>
    <p:sldId id="298" r:id="rId5"/>
    <p:sldId id="306" r:id="rId6"/>
    <p:sldId id="304" r:id="rId7"/>
    <p:sldId id="307" r:id="rId8"/>
    <p:sldId id="308" r:id="rId9"/>
    <p:sldId id="309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0" r:id="rId18"/>
    <p:sldId id="318" r:id="rId19"/>
    <p:sldId id="319" r:id="rId20"/>
    <p:sldId id="320" r:id="rId21"/>
    <p:sldId id="321" r:id="rId22"/>
    <p:sldId id="323" r:id="rId23"/>
    <p:sldId id="322" r:id="rId24"/>
    <p:sldId id="324" r:id="rId25"/>
    <p:sldId id="325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46" r:id="rId47"/>
    <p:sldId id="347" r:id="rId48"/>
    <p:sldId id="348" r:id="rId49"/>
    <p:sldId id="349" r:id="rId50"/>
    <p:sldId id="350" r:id="rId51"/>
    <p:sldId id="351" r:id="rId52"/>
    <p:sldId id="352" r:id="rId53"/>
    <p:sldId id="353" r:id="rId54"/>
    <p:sldId id="354" r:id="rId55"/>
    <p:sldId id="355" r:id="rId56"/>
    <p:sldId id="358" r:id="rId57"/>
    <p:sldId id="357" r:id="rId58"/>
    <p:sldId id="356" r:id="rId59"/>
    <p:sldId id="359" r:id="rId60"/>
    <p:sldId id="360" r:id="rId6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844" autoAdjust="0"/>
  </p:normalViewPr>
  <p:slideViewPr>
    <p:cSldViewPr snapToGrid="0" snapToObjects="1">
      <p:cViewPr varScale="1">
        <p:scale>
          <a:sx n="97" d="100"/>
          <a:sy n="97" d="100"/>
        </p:scale>
        <p:origin x="84" y="882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490935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Глубокое обучение </a:t>
            </a:r>
            <a:endParaRPr lang="ru-RU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3943" y="285886"/>
            <a:ext cx="498303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Глубокое обучение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3943" y="1302896"/>
            <a:ext cx="1297910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это подмножество методов машинного обучения, области изучения и создания машин, которые могут обучаться.</a:t>
            </a:r>
          </a:p>
          <a:p>
            <a:pPr algn="ctr"/>
            <a:r>
              <a:rPr lang="ru-RU" sz="2800" dirty="0"/>
              <a:t>Глубокое обучение используется в промышленности для решения практических задач в самых разных областях, таких как компьютерное зрение (изображения), обработка естественного языка (текст) и автоматическое распознавание речи. Проще говоря, глубокое обучение — это подмножество методов машинного обучения, главным образом основанных на применении искусственных нейронных сетей, которые представляют класс алгоритмов, подражающих</a:t>
            </a:r>
          </a:p>
          <a:p>
            <a:pPr algn="ctr"/>
            <a:r>
              <a:rPr lang="ru-RU" sz="2800" dirty="0"/>
              <a:t>человеческому мозгу.</a:t>
            </a:r>
            <a:endParaRPr sz="2800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6C8D5-71D1-1D65-F038-409582E10C16}"/>
              </a:ext>
            </a:extLst>
          </p:cNvPr>
          <p:cNvSpPr txBox="1"/>
          <p:nvPr/>
        </p:nvSpPr>
        <p:spPr>
          <a:xfrm>
            <a:off x="10596284" y="6386789"/>
            <a:ext cx="3818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/>
              <a:t>«Если объект похож на другие объекты определённого класса, то, скорее всего, он принадлежит к этому же классу.»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536300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Машинное обучение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2F4BFC-5878-0AC3-A04E-D76E754D7B67}"/>
              </a:ext>
            </a:extLst>
          </p:cNvPr>
          <p:cNvSpPr txBox="1"/>
          <p:nvPr/>
        </p:nvSpPr>
        <p:spPr>
          <a:xfrm>
            <a:off x="717155" y="1937108"/>
            <a:ext cx="1226194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Машинное обучение — это область </a:t>
            </a:r>
            <a:r>
              <a:rPr lang="ru-RU" sz="2800" dirty="0" err="1">
                <a:solidFill>
                  <a:schemeClr val="bg1"/>
                </a:solidFill>
              </a:rPr>
              <a:t>computer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err="1">
                <a:solidFill>
                  <a:schemeClr val="bg1"/>
                </a:solidFill>
              </a:rPr>
              <a:t>science</a:t>
            </a:r>
            <a:r>
              <a:rPr lang="ru-RU" sz="2800" dirty="0">
                <a:solidFill>
                  <a:schemeClr val="bg1"/>
                </a:solidFill>
              </a:rPr>
              <a:t>,</a:t>
            </a:r>
          </a:p>
          <a:p>
            <a:pPr algn="ctr"/>
            <a:r>
              <a:rPr lang="ru-RU" sz="2800" dirty="0">
                <a:solidFill>
                  <a:schemeClr val="bg1"/>
                </a:solidFill>
              </a:rPr>
              <a:t>в которой машины учатся решать задачи, для которых они не были запрограммированы непосредственно. Проще говоря, машины наблюдают закономерности и пытаются прямо или косвенно некоторым способом имитировать их</a:t>
            </a:r>
          </a:p>
        </p:txBody>
      </p:sp>
    </p:spTree>
    <p:extLst>
      <p:ext uri="{BB962C8B-B14F-4D97-AF65-F5344CB8AC3E}">
        <p14:creationId xmlns:p14="http://schemas.microsoft.com/office/powerpoint/2010/main" val="2612009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диаграмма, линия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FDB476DD-6379-EC05-6540-1B6CBC479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178" y="0"/>
            <a:ext cx="10533888" cy="8229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9397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541193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Обучение с учителем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3F2EE-082F-3D64-0707-610E55007F80}"/>
              </a:ext>
            </a:extLst>
          </p:cNvPr>
          <p:cNvSpPr txBox="1"/>
          <p:nvPr/>
        </p:nvSpPr>
        <p:spPr>
          <a:xfrm>
            <a:off x="753035" y="1431287"/>
            <a:ext cx="1312433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Этот подход подразумевает обучение алгоритма МО на размеченных наборах данных. Для каждого примера в обучающем наборе алгоритм знает, какой результат является правильным. Он использует эти знания, чтобы попытаться обобщить их на новые примеры, которые он никогда раньше не видел. В размеченных данных каждый «вход» связан с правильным «выходом».</a:t>
            </a:r>
          </a:p>
          <a:p>
            <a:pPr algn="ctr"/>
            <a:endParaRPr lang="ru-RU" sz="2800" dirty="0">
              <a:solidFill>
                <a:schemeClr val="bg1"/>
              </a:solidFill>
            </a:endParaRPr>
          </a:p>
          <a:p>
            <a:pPr algn="ctr"/>
            <a:r>
              <a:rPr lang="ru-RU" sz="2800" dirty="0">
                <a:solidFill>
                  <a:schemeClr val="bg1"/>
                </a:solidFill>
              </a:rPr>
              <a:t>Обучение с учителем состоит из двух подкатегорий: классификации и регрессии.</a:t>
            </a:r>
          </a:p>
        </p:txBody>
      </p:sp>
    </p:spTree>
    <p:extLst>
      <p:ext uri="{BB962C8B-B14F-4D97-AF65-F5344CB8AC3E}">
        <p14:creationId xmlns:p14="http://schemas.microsoft.com/office/powerpoint/2010/main" val="75003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5457" y="41629"/>
            <a:ext cx="405181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sz="4400" dirty="0"/>
              <a:t>Классификации</a:t>
            </a:r>
            <a:endParaRPr lang="ru-RU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3C1C1F-60FB-D2B5-D017-CE7E89736C1C}"/>
              </a:ext>
            </a:extLst>
          </p:cNvPr>
          <p:cNvSpPr txBox="1"/>
          <p:nvPr/>
        </p:nvSpPr>
        <p:spPr>
          <a:xfrm>
            <a:off x="0" y="2716149"/>
            <a:ext cx="65208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Здравоохранение</a:t>
            </a:r>
            <a:r>
              <a:rPr lang="ru-RU" dirty="0"/>
              <a:t>. </a:t>
            </a:r>
          </a:p>
          <a:p>
            <a:pPr algn="ctr"/>
            <a:r>
              <a:rPr lang="ru-RU" dirty="0"/>
              <a:t>Обучение модели на исторических данных пациентов может помочь медицинским специалистам точно анализировать диагнозы. Во время пандемии COVID-19 были внедрены модели для эффективного прогнозирования наличия у человека COVID-19 или его отсутствия.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3A3577-70CB-8714-877C-94912D683A8E}"/>
              </a:ext>
            </a:extLst>
          </p:cNvPr>
          <p:cNvSpPr txBox="1"/>
          <p:nvPr/>
        </p:nvSpPr>
        <p:spPr>
          <a:xfrm>
            <a:off x="87331" y="5169191"/>
            <a:ext cx="63461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Транспорт</a:t>
            </a:r>
            <a:r>
              <a:rPr lang="ru-RU" dirty="0"/>
              <a:t>. </a:t>
            </a:r>
          </a:p>
          <a:p>
            <a:pPr algn="ctr"/>
            <a:r>
              <a:rPr lang="ru-RU" dirty="0"/>
              <a:t>В этой отрасли используют модели машинного и глубокого обучения для  прогнозирования увеличения трафика в определённом географическом районе, потенциальных проблем дорожного движения из-за погодных условий и т. д. </a:t>
            </a:r>
            <a:endParaRPr lang="ru-RU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FEE296-659A-DC87-392C-C61C2529FDD1}"/>
              </a:ext>
            </a:extLst>
          </p:cNvPr>
          <p:cNvSpPr txBox="1"/>
          <p:nvPr/>
        </p:nvSpPr>
        <p:spPr>
          <a:xfrm>
            <a:off x="6809590" y="2716149"/>
            <a:ext cx="70973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Образование</a:t>
            </a:r>
            <a:r>
              <a:rPr lang="ru-RU" dirty="0"/>
              <a:t>. </a:t>
            </a:r>
          </a:p>
          <a:p>
            <a:pPr algn="ctr"/>
            <a:r>
              <a:rPr lang="ru-RU" dirty="0"/>
              <a:t>Неструктурированная информация из текстовых, видео- и аудиоданных может быть проанализирована с помощью моделей обработки естественного языка для выполнения таких задач, как классификация документов по категориям, автоматическое определение языка документов от студентов при подаче заявления, анализ студенческих отзывов.</a:t>
            </a:r>
            <a:endParaRPr lang="ru-RU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56B343-39EE-2F9F-6256-C52FCFD7CF84}"/>
              </a:ext>
            </a:extLst>
          </p:cNvPr>
          <p:cNvSpPr txBox="1"/>
          <p:nvPr/>
        </p:nvSpPr>
        <p:spPr>
          <a:xfrm>
            <a:off x="7481942" y="5273190"/>
            <a:ext cx="57526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Устойчивое сельское хозяйство</a:t>
            </a:r>
            <a:r>
              <a:rPr lang="ru-RU" dirty="0"/>
              <a:t>. </a:t>
            </a:r>
          </a:p>
          <a:p>
            <a:pPr algn="ctr"/>
            <a:r>
              <a:rPr lang="ru-RU" dirty="0"/>
              <a:t>Используя модели классификации, можно предсказать, какой тип земли лучше подходит для конкретного типа семян.</a:t>
            </a:r>
            <a:endParaRPr lang="ru-RU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0577A-F26D-0276-3472-863CE0346496}"/>
              </a:ext>
            </a:extLst>
          </p:cNvPr>
          <p:cNvSpPr txBox="1"/>
          <p:nvPr/>
        </p:nvSpPr>
        <p:spPr>
          <a:xfrm>
            <a:off x="285077" y="848140"/>
            <a:ext cx="92139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В классификации модель предсказывает правильную метку входных данных. Она полностью обучается и проходит тестовую оценку. Затем её можно применять для прогнозирования на новых, неизвестных данных.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233B14B-9E24-3D7C-5A48-ED8B63BE0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000" y="348323"/>
            <a:ext cx="2471402" cy="201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30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3793" y="302266"/>
            <a:ext cx="261295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Регрессия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750A6-580B-43FF-F7AE-F1D4B9CEF67E}"/>
              </a:ext>
            </a:extLst>
          </p:cNvPr>
          <p:cNvSpPr txBox="1"/>
          <p:nvPr/>
        </p:nvSpPr>
        <p:spPr>
          <a:xfrm>
            <a:off x="746416" y="1020933"/>
            <a:ext cx="119583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Другая подкатегория обучения с учителем — регрессия, результатом которой является непрерывное значение. Например, вероятность или цена. Бывают линейные и логистические регрессии.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5CFBC5-F611-13EC-7A16-1536C354E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831" y="5094155"/>
            <a:ext cx="6109777" cy="26027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7C9AAE-FFAE-3E39-E0F4-DA165D9CABAA}"/>
              </a:ext>
            </a:extLst>
          </p:cNvPr>
          <p:cNvSpPr txBox="1"/>
          <p:nvPr/>
        </p:nvSpPr>
        <p:spPr>
          <a:xfrm>
            <a:off x="193638" y="2503165"/>
            <a:ext cx="71215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Линейная регрессия.</a:t>
            </a:r>
            <a:r>
              <a:rPr lang="ru-RU" dirty="0"/>
              <a:t> </a:t>
            </a:r>
          </a:p>
          <a:p>
            <a:pPr algn="just"/>
            <a:r>
              <a:rPr lang="ru-RU" dirty="0"/>
              <a:t>Простой алгоритм, который моделирует линейную связь между одной или несколькими объясняющими переменными и непрерывной числовой выходной переменной. Он быстрее обучается по сравнению с другими алгоритмами машинного обучения. Его самое большое преимущество заключается в способности объяснять и интерпретировать прогнозы модели. Используется для прогнозирования продаж или для предсказания непрерывных значений, таких как цены на жильё, например.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9099F9-02AA-27B1-00AD-B45D2D4024AC}"/>
              </a:ext>
            </a:extLst>
          </p:cNvPr>
          <p:cNvSpPr txBox="1"/>
          <p:nvPr/>
        </p:nvSpPr>
        <p:spPr>
          <a:xfrm>
            <a:off x="7971416" y="2508832"/>
            <a:ext cx="573920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Логистическая регрессия.</a:t>
            </a:r>
            <a:r>
              <a:rPr lang="ru-RU" dirty="0"/>
              <a:t> </a:t>
            </a:r>
          </a:p>
          <a:p>
            <a:pPr algn="just"/>
            <a:r>
              <a:rPr lang="ru-RU" dirty="0"/>
              <a:t>Не выполняет статистическую классификацию, а оценивает параметры логистической модели. Причина, по которой её можно применять для классификации, заключается в границе принятия решений, которая вставляется для разделения классов. Таким образом, в своей самой простой форме логистическая регрессия использует логистическую функцию для моделирования бинарных зависимых переменных.</a:t>
            </a:r>
          </a:p>
        </p:txBody>
      </p:sp>
    </p:spTree>
    <p:extLst>
      <p:ext uri="{BB962C8B-B14F-4D97-AF65-F5344CB8AC3E}">
        <p14:creationId xmlns:p14="http://schemas.microsoft.com/office/powerpoint/2010/main" val="409698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220246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Минусы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9503D-E006-E25B-3E40-0FC427E4F441}"/>
              </a:ext>
            </a:extLst>
          </p:cNvPr>
          <p:cNvSpPr txBox="1"/>
          <p:nvPr/>
        </p:nvSpPr>
        <p:spPr>
          <a:xfrm>
            <a:off x="774551" y="1813577"/>
            <a:ext cx="126671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проблема доступности данных;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зависимость надёжности прогнозов и эффективности модели от качества и согласованности разметки;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зависимость производительности модели от правильно выбранных входных переменных;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сложность масштабирования;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ограниченность закономерностей, поскольку они только в пределах предоставленных наборов обучающих данных;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высокая вычислительная стоимость.</a:t>
            </a:r>
          </a:p>
        </p:txBody>
      </p:sp>
    </p:spTree>
    <p:extLst>
      <p:ext uri="{BB962C8B-B14F-4D97-AF65-F5344CB8AC3E}">
        <p14:creationId xmlns:p14="http://schemas.microsoft.com/office/powerpoint/2010/main" val="2012921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1532" y="274320"/>
            <a:ext cx="559877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b="1" dirty="0"/>
              <a:t>Обучение без учителя</a:t>
            </a:r>
            <a:endParaRPr lang="ru-RU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03B21E-6D13-78D3-2AA9-AB169A9E2EDB}"/>
              </a:ext>
            </a:extLst>
          </p:cNvPr>
          <p:cNvSpPr txBox="1"/>
          <p:nvPr/>
        </p:nvSpPr>
        <p:spPr>
          <a:xfrm>
            <a:off x="1124174" y="2346103"/>
            <a:ext cx="123820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Обучение без учителя и обучение с учителем обладают одним общим свойством: они оба преобразуют один набор данных в другой. Но в обучении без учителя набор данных, в который происходит преобразование, прежде не был известен. В отличие от обучения с учителем, здесь нет «правильного ответа», который модель должна воспроизвести. Вы просто даете команду алгоритму «найти закономерности в этих данных и сообщить о них».</a:t>
            </a:r>
          </a:p>
        </p:txBody>
      </p:sp>
    </p:spTree>
    <p:extLst>
      <p:ext uri="{BB962C8B-B14F-4D97-AF65-F5344CB8AC3E}">
        <p14:creationId xmlns:p14="http://schemas.microsoft.com/office/powerpoint/2010/main" val="4244350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386157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Кластеризация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9503D-E006-E25B-3E40-0FC427E4F441}"/>
              </a:ext>
            </a:extLst>
          </p:cNvPr>
          <p:cNvSpPr txBox="1"/>
          <p:nvPr/>
        </p:nvSpPr>
        <p:spPr>
          <a:xfrm>
            <a:off x="225911" y="1402943"/>
            <a:ext cx="140046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Например, кластеризация набора данных на группы — это разновидность обучения без учителя. Кластеризация преобразует последовательность точек данных в последовательность меток кластеров. Часто роль меток играют последовательные целые числа, например, в случае 10 кластерами будут созданы метки от 1 до 10. Каждая точка данных получит метку, в зависимости от того, к какому кластеру она будет отнесена. Набор данных, состоящий из точек, превратится в набор меток. Почему в качестве меток часто выбираются числа? Алгоритм ничего не может сказать о природе кластеров, он лишь сообщает вам: «Я обнаружил тут некоторые закономерности. Похоже, что ваши данные делятся на группы. Вот они!»</a:t>
            </a:r>
          </a:p>
        </p:txBody>
      </p:sp>
    </p:spTree>
    <p:extLst>
      <p:ext uri="{BB962C8B-B14F-4D97-AF65-F5344CB8AC3E}">
        <p14:creationId xmlns:p14="http://schemas.microsoft.com/office/powerpoint/2010/main" val="2874104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Рисунок 6" descr="Изображение выглядит как текст, диаграмма, карта&#10;&#10;Автоматически созданное описание">
            <a:extLst>
              <a:ext uri="{FF2B5EF4-FFF2-40B4-BE49-F238E27FC236}">
                <a16:creationId xmlns:a16="http://schemas.microsoft.com/office/drawing/2014/main" id="{61BF1720-3B8E-E99C-0AB4-E80873558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603" y="45604"/>
            <a:ext cx="9401202" cy="758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288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1009667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Ассоциация и сокращение размерности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9503D-E006-E25B-3E40-0FC427E4F441}"/>
              </a:ext>
            </a:extLst>
          </p:cNvPr>
          <p:cNvSpPr txBox="1"/>
          <p:nvPr/>
        </p:nvSpPr>
        <p:spPr>
          <a:xfrm>
            <a:off x="225911" y="1402943"/>
            <a:ext cx="1400466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Поиск связей между переменными. Правила ассоциации часто применяются в аналитике потребительских корзин.</a:t>
            </a:r>
          </a:p>
          <a:p>
            <a:pPr algn="ctr"/>
            <a:endParaRPr lang="ru-RU" sz="2800" dirty="0">
              <a:solidFill>
                <a:schemeClr val="bg1"/>
              </a:solidFill>
            </a:endParaRPr>
          </a:p>
          <a:p>
            <a:pPr algn="ctr"/>
            <a:r>
              <a:rPr lang="ru-RU" sz="2800" b="1" dirty="0">
                <a:solidFill>
                  <a:schemeClr val="bg1"/>
                </a:solidFill>
              </a:rPr>
              <a:t>Сокращение размерности</a:t>
            </a:r>
            <a:r>
              <a:rPr lang="ru-RU" sz="2800" dirty="0">
                <a:solidFill>
                  <a:schemeClr val="bg1"/>
                </a:solidFill>
              </a:rPr>
              <a:t>. Алгоритм количественно сокращает переменные в данных, но при этом стремится сохранить как можно больше информации. Этот метод применяется во время предварительной работы с данными. Пример: улучшение качества изображения посредством удаления шума при помощи </a:t>
            </a:r>
            <a:r>
              <a:rPr lang="ru-RU" sz="2800" dirty="0" err="1">
                <a:solidFill>
                  <a:schemeClr val="bg1"/>
                </a:solidFill>
              </a:rPr>
              <a:t>автокодировщика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3836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4AD34-CFF1-F95D-1E45-D3EF0ABFFAEE}"/>
              </a:ext>
            </a:extLst>
          </p:cNvPr>
          <p:cNvSpPr txBox="1"/>
          <p:nvPr/>
        </p:nvSpPr>
        <p:spPr>
          <a:xfrm>
            <a:off x="333488" y="1650905"/>
            <a:ext cx="735823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8.5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9.5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F3595-F02D-F0AB-6597-396E89A04345}"/>
              </a:ext>
            </a:extLst>
          </p:cNvPr>
          <p:cNvSpPr txBox="1"/>
          <p:nvPr/>
        </p:nvSpPr>
        <p:spPr>
          <a:xfrm>
            <a:off x="625737" y="289929"/>
            <a:ext cx="612084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/>
              <a:t>Простая нейронная сеть</a:t>
            </a:r>
          </a:p>
        </p:txBody>
      </p:sp>
      <p:pic>
        <p:nvPicPr>
          <p:cNvPr id="9" name="Рисунок 8" descr="Изображение выглядит как текст, круг, снимок экрана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DDD34A20-BF6F-1BE4-4260-AF0C1E178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874" y="1650905"/>
            <a:ext cx="7207964" cy="47245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3A83F6-7C47-F8D5-67ED-7A12B988F177}"/>
              </a:ext>
            </a:extLst>
          </p:cNvPr>
          <p:cNvSpPr txBox="1"/>
          <p:nvPr/>
        </p:nvSpPr>
        <p:spPr>
          <a:xfrm>
            <a:off x="3255302" y="6006599"/>
            <a:ext cx="39695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/>
              <a:t>Так что же такое нейронная сеть? На данный момент</a:t>
            </a:r>
          </a:p>
          <a:p>
            <a:pPr algn="ctr"/>
            <a:r>
              <a:rPr lang="ru-RU" i="1" dirty="0"/>
              <a:t>это один или несколько весовых коэффициентов, на которые можно умножить входные данные и получить прогноз.</a:t>
            </a:r>
          </a:p>
        </p:txBody>
      </p:sp>
    </p:spTree>
    <p:extLst>
      <p:ext uri="{BB962C8B-B14F-4D97-AF65-F5344CB8AC3E}">
        <p14:creationId xmlns:p14="http://schemas.microsoft.com/office/powerpoint/2010/main" val="2563719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585929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Нужно больше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164A-914D-8DD5-3F67-BE329CDC4BD5}"/>
              </a:ext>
            </a:extLst>
          </p:cNvPr>
          <p:cNvSpPr txBox="1"/>
          <p:nvPr/>
        </p:nvSpPr>
        <p:spPr>
          <a:xfrm>
            <a:off x="44824" y="891054"/>
            <a:ext cx="735823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w_sum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de-DE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de-DE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endParaRPr lang="de-DE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w_sum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8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endParaRPr lang="de-DE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toes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8.5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9.5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9.9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0.65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nfans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toes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nfans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9" name="Рисунок 8" descr="Изображение выглядит как текст, диаграмма, шаблон, оригами&#10;&#10;Автоматически созданное описание">
            <a:extLst>
              <a:ext uri="{FF2B5EF4-FFF2-40B4-BE49-F238E27FC236}">
                <a16:creationId xmlns:a16="http://schemas.microsoft.com/office/drawing/2014/main" id="{E2467192-09DD-5A20-7055-599D94671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419" y="908274"/>
            <a:ext cx="7097115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945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F3595-F02D-F0AB-6597-396E89A04345}"/>
              </a:ext>
            </a:extLst>
          </p:cNvPr>
          <p:cNvSpPr txBox="1"/>
          <p:nvPr/>
        </p:nvSpPr>
        <p:spPr>
          <a:xfrm>
            <a:off x="625737" y="289929"/>
            <a:ext cx="646619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/>
              <a:t>Скалярное произведение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A83F6-7C47-F8D5-67ED-7A12B988F177}"/>
              </a:ext>
            </a:extLst>
          </p:cNvPr>
          <p:cNvSpPr txBox="1"/>
          <p:nvPr/>
        </p:nvSpPr>
        <p:spPr>
          <a:xfrm>
            <a:off x="877861" y="3676606"/>
            <a:ext cx="50603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/>
              <a:t>Узнаем скалярное произведение этих векторов</a:t>
            </a:r>
            <a:endParaRPr lang="pt-BR" i="1" dirty="0"/>
          </a:p>
          <a:p>
            <a:pPr algn="ctr"/>
            <a:r>
              <a:rPr lang="pt-BR" i="1" dirty="0"/>
              <a:t>a = [ 0, 1, 0, 1]</a:t>
            </a:r>
          </a:p>
          <a:p>
            <a:pPr algn="ctr"/>
            <a:r>
              <a:rPr lang="pt-BR" i="1" dirty="0"/>
              <a:t>b = [ 1, 0, 1, 0]</a:t>
            </a:r>
          </a:p>
          <a:p>
            <a:pPr algn="ctr"/>
            <a:r>
              <a:rPr lang="pt-BR" i="1" dirty="0"/>
              <a:t>c = [ 0, 1, 1, 0]</a:t>
            </a:r>
          </a:p>
          <a:p>
            <a:pPr algn="ctr"/>
            <a:r>
              <a:rPr lang="pt-BR" i="1" dirty="0"/>
              <a:t>d = [.5, 0,.5, 0]</a:t>
            </a:r>
          </a:p>
          <a:p>
            <a:pPr algn="ctr"/>
            <a:r>
              <a:rPr lang="pt-BR" i="1" dirty="0"/>
              <a:t>e = [ 0, 1,-1, 0]</a:t>
            </a:r>
            <a:endParaRPr lang="ru-RU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80C3F2-B545-C433-FE3A-355222AFE26A}"/>
              </a:ext>
            </a:extLst>
          </p:cNvPr>
          <p:cNvSpPr txBox="1"/>
          <p:nvPr/>
        </p:nvSpPr>
        <p:spPr>
          <a:xfrm>
            <a:off x="225911" y="1402943"/>
            <a:ext cx="1400466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В прошлом примере вычисляется взвешенная сумма (скалярное произведение) по двум векторам. Вы берете два вектора одинаковой длины (</a:t>
            </a:r>
            <a:r>
              <a:rPr lang="de-DE" sz="2800" dirty="0" err="1"/>
              <a:t>data</a:t>
            </a:r>
            <a:r>
              <a:rPr lang="ru-RU" sz="2800" dirty="0"/>
              <a:t> и </a:t>
            </a:r>
            <a:r>
              <a:rPr lang="ru-RU" sz="2800" dirty="0" err="1"/>
              <a:t>weights</a:t>
            </a:r>
            <a:r>
              <a:rPr lang="ru-RU" sz="2800" dirty="0"/>
              <a:t>), перемножаете соответствующие элементы этих векторов (первый элемент в </a:t>
            </a:r>
            <a:r>
              <a:rPr lang="de-DE" sz="2800" dirty="0" err="1"/>
              <a:t>data</a:t>
            </a:r>
            <a:r>
              <a:rPr lang="ru-RU" sz="2800" dirty="0"/>
              <a:t> умножается на первый элемент в </a:t>
            </a:r>
            <a:r>
              <a:rPr lang="ru-RU" sz="2800" dirty="0" err="1"/>
              <a:t>weights</a:t>
            </a:r>
            <a:r>
              <a:rPr lang="ru-RU" sz="2800" dirty="0"/>
              <a:t>, и так далее), а затем суммируете результаты.</a:t>
            </a:r>
          </a:p>
          <a:p>
            <a:pPr algn="just"/>
            <a:r>
              <a:rPr lang="ru-RU" sz="2800" dirty="0"/>
              <a:t>Позволяет получить представление о сходстве двух векторов.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824579-CBC9-A6DC-248E-2CE8EF2625BA}"/>
              </a:ext>
            </a:extLst>
          </p:cNvPr>
          <p:cNvSpPr txBox="1"/>
          <p:nvPr/>
        </p:nvSpPr>
        <p:spPr>
          <a:xfrm>
            <a:off x="7497186" y="3649712"/>
            <a:ext cx="21963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i="1" dirty="0"/>
              <a:t>w_sum(a</a:t>
            </a:r>
            <a:r>
              <a:rPr lang="ru-RU" i="1" dirty="0"/>
              <a:t>,</a:t>
            </a:r>
            <a:r>
              <a:rPr lang="pl-PL" i="1" dirty="0"/>
              <a:t>b) = 0</a:t>
            </a:r>
          </a:p>
          <a:p>
            <a:pPr algn="ctr"/>
            <a:r>
              <a:rPr lang="pl-PL" i="1" dirty="0"/>
              <a:t>w_sum(b,c) = 1</a:t>
            </a:r>
          </a:p>
          <a:p>
            <a:pPr algn="ctr"/>
            <a:r>
              <a:rPr lang="pl-PL" i="1" dirty="0"/>
              <a:t>w_sum(b,d) = 1</a:t>
            </a:r>
          </a:p>
          <a:p>
            <a:pPr algn="ctr"/>
            <a:r>
              <a:rPr lang="pl-PL" i="1" dirty="0"/>
              <a:t>w_sum(c,c) = 2</a:t>
            </a:r>
          </a:p>
          <a:p>
            <a:pPr algn="ctr"/>
            <a:r>
              <a:rPr lang="pl-PL" i="1" dirty="0"/>
              <a:t>w_sum(d,d) = .5</a:t>
            </a:r>
          </a:p>
          <a:p>
            <a:pPr algn="ctr"/>
            <a:r>
              <a:rPr lang="pl-PL" i="1" dirty="0"/>
              <a:t>w_sum(c,e) = 0</a:t>
            </a:r>
            <a:endParaRPr lang="ru-RU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79E844-1B3E-F2C4-4F3D-7FACDFE1077D}"/>
              </a:ext>
            </a:extLst>
          </p:cNvPr>
          <p:cNvSpPr txBox="1"/>
          <p:nvPr/>
        </p:nvSpPr>
        <p:spPr>
          <a:xfrm>
            <a:off x="24157" y="5991180"/>
            <a:ext cx="138209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/>
              <a:t>Самой большой оказалась взвешенная сумма (</a:t>
            </a:r>
            <a:r>
              <a:rPr lang="ru-RU" i="1" dirty="0" err="1"/>
              <a:t>w_sum</a:t>
            </a:r>
            <a:r>
              <a:rPr lang="ru-RU" i="1" dirty="0"/>
              <a:t>(</a:t>
            </a:r>
            <a:r>
              <a:rPr lang="ru-RU" i="1" dirty="0" err="1"/>
              <a:t>c,c</a:t>
            </a:r>
            <a:r>
              <a:rPr lang="ru-RU" i="1" dirty="0"/>
              <a:t>)) двух абсолютно идентичных векторов. Напротив, так как векторы а и b имеют прямо противоположные веса, их скалярное произведение равно нулю. Наибольший интерес представляет, пожалуй, взвешенная сумма векторов сие, потому что е имеет один отрицательный вес. Этот отрицательный вес уравновесил положительное сходство между ними. Однако скалярное произведение вектора е на самого себя дает в результате 2, несмотря на отрицательный вес (как известно, минус на минус дает плюс)</a:t>
            </a:r>
          </a:p>
        </p:txBody>
      </p:sp>
    </p:spTree>
    <p:extLst>
      <p:ext uri="{BB962C8B-B14F-4D97-AF65-F5344CB8AC3E}">
        <p14:creationId xmlns:p14="http://schemas.microsoft.com/office/powerpoint/2010/main" val="3983524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534518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NumPy &lt;dot product&gt;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0B164A-914D-8DD5-3F67-BE329CDC4BD5}"/>
              </a:ext>
            </a:extLst>
          </p:cNvPr>
          <p:cNvSpPr txBox="1"/>
          <p:nvPr/>
        </p:nvSpPr>
        <p:spPr>
          <a:xfrm>
            <a:off x="430306" y="1780133"/>
            <a:ext cx="470109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w_sum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w_sum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9.9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nfans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nfans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E077B-02EB-BC53-0026-9583FC2BD291}"/>
              </a:ext>
            </a:extLst>
          </p:cNvPr>
          <p:cNvSpPr txBox="1"/>
          <p:nvPr/>
        </p:nvSpPr>
        <p:spPr>
          <a:xfrm>
            <a:off x="6368527" y="1826373"/>
            <a:ext cx="61533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.dot(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9.9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nfans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nfans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]])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5454B41-26DC-C9D4-1D64-EE8689CB5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663" y="6003830"/>
            <a:ext cx="73386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numpy.dot(a, b,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out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=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None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a, b — массивы (векторы, матрицы, тензоры).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out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— опциональный массив для результата (для производительности).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8266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94DDE-3021-A7B8-613F-8CDEE0F3BF48}"/>
              </a:ext>
            </a:extLst>
          </p:cNvPr>
          <p:cNvSpPr txBox="1"/>
          <p:nvPr/>
        </p:nvSpPr>
        <p:spPr>
          <a:xfrm>
            <a:off x="442912" y="281672"/>
            <a:ext cx="1313973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dirty="0">
                <a:solidFill>
                  <a:schemeClr val="bg1"/>
                </a:solidFill>
              </a:rPr>
              <a:t>Проект: Система рекомендации фильмов на основе скалярного произведения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E1E38C-0E8B-9CA7-F101-349E48BFF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18" y="2132381"/>
            <a:ext cx="733868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Шаг 1: Подготовка данных</a:t>
            </a:r>
          </a:p>
          <a:p>
            <a:r>
              <a:rPr lang="ru-RU" b="1" dirty="0">
                <a:solidFill>
                  <a:schemeClr val="bg1"/>
                </a:solidFill>
              </a:rPr>
              <a:t>Шаг 2: Функция скалярного произведения</a:t>
            </a:r>
          </a:p>
          <a:p>
            <a:r>
              <a:rPr lang="ru-RU" b="1" dirty="0">
                <a:solidFill>
                  <a:schemeClr val="bg1"/>
                </a:solidFill>
              </a:rPr>
              <a:t>Шаг 3: Найти похожего пользователя</a:t>
            </a:r>
          </a:p>
          <a:p>
            <a:r>
              <a:rPr lang="ru-RU" b="1" dirty="0">
                <a:solidFill>
                  <a:schemeClr val="bg1"/>
                </a:solidFill>
              </a:rPr>
              <a:t>Шаг 4: Матрица схожести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8DD480-AB16-3D53-4110-1E258431B3A6}"/>
              </a:ext>
            </a:extLst>
          </p:cNvPr>
          <p:cNvSpPr txBox="1"/>
          <p:nvPr/>
        </p:nvSpPr>
        <p:spPr>
          <a:xfrm>
            <a:off x="5938838" y="1855351"/>
            <a:ext cx="73628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"Анна"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"Борис"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"Виктор"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"Дарья"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ru-R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movies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"Матрица"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"Пираты"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"Начало"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Интерстеллар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"Форсаж"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ru-R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ratings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Анна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Борис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Виктор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Дарья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320A7-D0F9-7300-A30E-B46D9FC34D85}"/>
              </a:ext>
            </a:extLst>
          </p:cNvPr>
          <p:cNvSpPr txBox="1"/>
          <p:nvPr/>
        </p:nvSpPr>
        <p:spPr>
          <a:xfrm>
            <a:off x="4662487" y="4825486"/>
            <a:ext cx="91392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Анна: [5, 3, 4, 5, 2]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С Борисом: 5*4 + 3*4 + 4*5 + 5*3 + 2*5 = 20+12+20+15+10 = 77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С Виктором: 5*2 + 3*5 + 4*3 + 5*4 + 2*4 = 10+15+12+20+8 = 65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С Дарьей: 5*3 + 3*2 + 4*5 + 5*5 + 2*3 = 15+6+20+25+6 = 72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690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94DDE-3021-A7B8-613F-8CDEE0F3BF48}"/>
              </a:ext>
            </a:extLst>
          </p:cNvPr>
          <p:cNvSpPr txBox="1"/>
          <p:nvPr/>
        </p:nvSpPr>
        <p:spPr>
          <a:xfrm>
            <a:off x="442912" y="281672"/>
            <a:ext cx="13139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Бонус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E1E38C-0E8B-9CA7-F101-349E48BFF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18" y="1532186"/>
            <a:ext cx="134823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Шаг 5: Дать рекомендации</a:t>
            </a:r>
          </a:p>
          <a:p>
            <a:r>
              <a:rPr lang="ru-RU" dirty="0">
                <a:solidFill>
                  <a:schemeClr val="bg1"/>
                </a:solidFill>
              </a:rPr>
              <a:t>Если у нас есть два пользователя с похожими вкусами, то фильмы, которые понравились одному, скорее всего понравятся и другому.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320A7-D0F9-7300-A30E-B46D9FC34D85}"/>
              </a:ext>
            </a:extLst>
          </p:cNvPr>
          <p:cNvSpPr txBox="1"/>
          <p:nvPr/>
        </p:nvSpPr>
        <p:spPr>
          <a:xfrm>
            <a:off x="1004887" y="2659590"/>
            <a:ext cx="91392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>
                <a:solidFill>
                  <a:schemeClr val="bg1"/>
                </a:solidFill>
              </a:rPr>
              <a:t>Находим "кино-близнеца "</a:t>
            </a:r>
          </a:p>
          <a:p>
            <a:pPr marL="342900" indent="-342900">
              <a:buFontTx/>
              <a:buAutoNum type="arabicPeriod"/>
            </a:pPr>
            <a:r>
              <a:rPr lang="ru-RU" b="1" dirty="0">
                <a:solidFill>
                  <a:schemeClr val="bg1"/>
                </a:solidFill>
              </a:rPr>
              <a:t>Смотрим, какие фильмы нравятся "близнецу"</a:t>
            </a:r>
          </a:p>
          <a:p>
            <a:pPr marL="342900" indent="-342900">
              <a:buFontTx/>
              <a:buAutoNum type="arabicPeriod"/>
            </a:pPr>
            <a:r>
              <a:rPr lang="ru-RU" b="1" dirty="0">
                <a:solidFill>
                  <a:schemeClr val="bg1"/>
                </a:solidFill>
              </a:rPr>
              <a:t>Фильтруем: что еще не нравится текущему пользователю</a:t>
            </a:r>
          </a:p>
          <a:p>
            <a:pPr marL="342900" indent="-342900">
              <a:buFontTx/>
              <a:buAutoNum type="arabicPeriod"/>
            </a:pPr>
            <a:r>
              <a:rPr lang="ru-RU" b="1" dirty="0">
                <a:solidFill>
                  <a:schemeClr val="bg1"/>
                </a:solidFill>
              </a:rPr>
              <a:t>Применяем два условия одновременно</a:t>
            </a:r>
          </a:p>
          <a:p>
            <a:pPr marL="342900" indent="-342900">
              <a:buAutoNum type="arabicPeriod"/>
            </a:pP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737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259308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Вернёмся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E077B-02EB-BC53-0026-9583FC2BD291}"/>
              </a:ext>
            </a:extLst>
          </p:cNvPr>
          <p:cNvSpPr txBox="1"/>
          <p:nvPr/>
        </p:nvSpPr>
        <p:spPr>
          <a:xfrm>
            <a:off x="176687" y="1668215"/>
            <a:ext cx="61533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.dot(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9.9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9.0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nfans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nfans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]])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5454B41-26DC-C9D4-1D64-EE8689CB5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061" y="1954588"/>
            <a:ext cx="73386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dirty="0">
                <a:solidFill>
                  <a:schemeClr val="bg1"/>
                </a:solidFill>
                <a:latin typeface="+mj-lt"/>
              </a:rPr>
              <a:t>это пример самой простой нейросети — одного нейрона без обучения.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dirty="0">
                <a:solidFill>
                  <a:schemeClr val="bg1"/>
                </a:solidFill>
                <a:latin typeface="+mj-lt"/>
              </a:rPr>
              <a:t>Один нейрон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dirty="0">
                <a:solidFill>
                  <a:schemeClr val="bg1"/>
                </a:solidFill>
                <a:latin typeface="+mj-lt"/>
              </a:rPr>
              <a:t>Без обучения</a:t>
            </a:r>
            <a:br>
              <a:rPr lang="ru-RU" dirty="0">
                <a:solidFill>
                  <a:schemeClr val="bg1"/>
                </a:solidFill>
                <a:latin typeface="+mj-lt"/>
              </a:rPr>
            </a:br>
            <a:r>
              <a:rPr lang="ru-RU" dirty="0">
                <a:solidFill>
                  <a:schemeClr val="bg1"/>
                </a:solidFill>
                <a:latin typeface="+mj-lt"/>
              </a:rPr>
              <a:t>Без функции активации</a:t>
            </a:r>
            <a:br>
              <a:rPr lang="ru-RU" dirty="0">
                <a:solidFill>
                  <a:schemeClr val="bg1"/>
                </a:solidFill>
                <a:latin typeface="+mj-lt"/>
              </a:rPr>
            </a:br>
            <a:r>
              <a:rPr lang="ru-RU" dirty="0">
                <a:solidFill>
                  <a:schemeClr val="bg1"/>
                </a:solidFill>
                <a:latin typeface="+mj-lt"/>
              </a:rPr>
              <a:t>Просто линейная модель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dirty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dirty="0">
                <a:solidFill>
                  <a:schemeClr val="bg1"/>
                </a:solidFill>
                <a:latin typeface="+mj-lt"/>
              </a:rPr>
              <a:t>Берёт 3 признака -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&gt; </a:t>
            </a:r>
            <a:r>
              <a:rPr lang="ru-RU" dirty="0">
                <a:solidFill>
                  <a:schemeClr val="bg1"/>
                </a:solidFill>
                <a:latin typeface="+mj-lt"/>
              </a:rPr>
              <a:t>Умножает их на веса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-&gt; </a:t>
            </a:r>
            <a:r>
              <a:rPr lang="ru-RU" dirty="0">
                <a:solidFill>
                  <a:schemeClr val="bg1"/>
                </a:solidFill>
                <a:latin typeface="+mj-lt"/>
              </a:rPr>
              <a:t>Складывает</a:t>
            </a:r>
            <a:endParaRPr lang="en-US" dirty="0">
              <a:solidFill>
                <a:schemeClr val="bg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 err="1">
                <a:solidFill>
                  <a:schemeClr val="bg1"/>
                </a:solidFill>
                <a:latin typeface="+mj-lt"/>
              </a:rPr>
              <a:t>Dot</a:t>
            </a:r>
            <a:r>
              <a:rPr lang="de-DE" dirty="0">
                <a:solidFill>
                  <a:schemeClr val="bg1"/>
                </a:solidFill>
                <a:latin typeface="+mj-lt"/>
              </a:rPr>
              <a:t> </a:t>
            </a:r>
            <a:r>
              <a:rPr lang="ru-RU" dirty="0">
                <a:solidFill>
                  <a:schemeClr val="bg1"/>
                </a:solidFill>
                <a:latin typeface="+mj-lt"/>
              </a:rPr>
              <a:t>-</a:t>
            </a:r>
            <a:r>
              <a:rPr lang="de-DE" dirty="0">
                <a:solidFill>
                  <a:schemeClr val="bg1"/>
                </a:solidFill>
                <a:latin typeface="+mj-lt"/>
              </a:rPr>
              <a:t> </a:t>
            </a:r>
            <a:r>
              <a:rPr lang="ru-RU" dirty="0">
                <a:solidFill>
                  <a:schemeClr val="bg1"/>
                </a:solidFill>
                <a:latin typeface="+mj-lt"/>
              </a:rPr>
              <a:t>взвешенная сумма — основной принцип нейронов.</a:t>
            </a:r>
          </a:p>
        </p:txBody>
      </p:sp>
    </p:spTree>
    <p:extLst>
      <p:ext uri="{BB962C8B-B14F-4D97-AF65-F5344CB8AC3E}">
        <p14:creationId xmlns:p14="http://schemas.microsoft.com/office/powerpoint/2010/main" val="814636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F3595-F02D-F0AB-6597-396E89A04345}"/>
              </a:ext>
            </a:extLst>
          </p:cNvPr>
          <p:cNvSpPr txBox="1"/>
          <p:nvPr/>
        </p:nvSpPr>
        <p:spPr>
          <a:xfrm>
            <a:off x="625737" y="289929"/>
            <a:ext cx="541129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/>
              <a:t>А что если наоборот?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80C3F2-B545-C433-FE3A-355222AFE26A}"/>
              </a:ext>
            </a:extLst>
          </p:cNvPr>
          <p:cNvSpPr txBox="1"/>
          <p:nvPr/>
        </p:nvSpPr>
        <p:spPr>
          <a:xfrm>
            <a:off x="225911" y="1402943"/>
            <a:ext cx="140046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Сети способны возвращать несколько прогнозов для единственного входа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F7190AA-E3F2-5F66-FF43-7BFBADC0F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974313"/>
            <a:ext cx="7048500" cy="338137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86C8B58-7AC4-848B-2E7D-9C8F79F5A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742" y="1974313"/>
            <a:ext cx="70866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76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259308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Вернёмся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9BCFD1-275A-59FC-21D6-E5719571A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16368"/>
            <a:ext cx="7000875" cy="32956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571341D-7DC8-17CE-E5D7-CD46B834E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5" y="1662112"/>
            <a:ext cx="61626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907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502381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Несколько выходов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71C34-A196-E3FC-CE6E-C831E6004B59}"/>
              </a:ext>
            </a:extLst>
          </p:cNvPr>
          <p:cNvSpPr txBox="1"/>
          <p:nvPr/>
        </p:nvSpPr>
        <p:spPr>
          <a:xfrm>
            <a:off x="914401" y="1551429"/>
            <a:ext cx="54648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ele_mul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ele_mul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wlrec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DE88C-5961-6EA6-DB94-8ECB294992B7}"/>
              </a:ext>
            </a:extLst>
          </p:cNvPr>
          <p:cNvSpPr txBox="1"/>
          <p:nvPr/>
        </p:nvSpPr>
        <p:spPr>
          <a:xfrm>
            <a:off x="6766560" y="1981214"/>
            <a:ext cx="4356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[0.195, 0.13, 0.5850000000000001]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D97EECE-1E49-BD0E-9FC0-CAA88038B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513" y="2561019"/>
            <a:ext cx="228600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91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F3595-F02D-F0AB-6597-396E89A04345}"/>
              </a:ext>
            </a:extLst>
          </p:cNvPr>
          <p:cNvSpPr txBox="1"/>
          <p:nvPr/>
        </p:nvSpPr>
        <p:spPr>
          <a:xfrm>
            <a:off x="625737" y="289929"/>
            <a:ext cx="115304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/>
              <a:t>Прогнозирование с несколькими</a:t>
            </a:r>
          </a:p>
          <a:p>
            <a:r>
              <a:rPr lang="ru-RU" sz="4400" b="1" dirty="0"/>
              <a:t>входами и выходами</a:t>
            </a: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87498E8D-38AC-8022-C714-91A3DF44A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568852"/>
              </p:ext>
            </p:extLst>
          </p:nvPr>
        </p:nvGraphicFramePr>
        <p:xfrm>
          <a:off x="744428" y="1765048"/>
          <a:ext cx="8229600" cy="1151739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341807090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91604953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73110468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177531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Версия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Входы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Выход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093502"/>
                  </a:ext>
                </a:extLst>
              </a:tr>
              <a:tr h="420219">
                <a:tc>
                  <a:txBody>
                    <a:bodyPr/>
                    <a:lstStyle/>
                    <a:p>
                      <a:r>
                        <a:rPr lang="ru-RU"/>
                        <a:t>Первая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много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один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182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Вторая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один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много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24863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5D15CF7-3019-F555-F9A2-598005C97077}"/>
              </a:ext>
            </a:extLst>
          </p:cNvPr>
          <p:cNvSpPr txBox="1"/>
          <p:nvPr/>
        </p:nvSpPr>
        <p:spPr>
          <a:xfrm>
            <a:off x="5238974" y="5710939"/>
            <a:ext cx="34532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Слой из 3 нейронов</a:t>
            </a:r>
            <a:br>
              <a:rPr lang="ru-RU" dirty="0"/>
            </a:br>
            <a:r>
              <a:rPr lang="ru-RU" dirty="0"/>
              <a:t>Каждый видит все входы</a:t>
            </a:r>
            <a:br>
              <a:rPr lang="ru-RU" dirty="0"/>
            </a:br>
            <a:r>
              <a:rPr lang="ru-RU" dirty="0"/>
              <a:t>Возвращает вектор выходов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4A277D-79DF-0D51-E669-D5A01F7F9D74}"/>
              </a:ext>
            </a:extLst>
          </p:cNvPr>
          <p:cNvSpPr txBox="1"/>
          <p:nvPr/>
        </p:nvSpPr>
        <p:spPr>
          <a:xfrm>
            <a:off x="713052" y="3249369"/>
            <a:ext cx="1285323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Подходы к созданию сетей с несколькими входами и несколькими выходами можно объединить и создать сеть, принимающую несколько значений на входе и возвращающую несколько прогнозов. Как и прежде, каждый вес в этой сети связывает каждое входное значение с каждым выходным значением, и прогнозирование происходит обычным образом.</a:t>
            </a:r>
          </a:p>
        </p:txBody>
      </p:sp>
    </p:spTree>
    <p:extLst>
      <p:ext uri="{BB962C8B-B14F-4D97-AF65-F5344CB8AC3E}">
        <p14:creationId xmlns:p14="http://schemas.microsoft.com/office/powerpoint/2010/main" val="663911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94DDE-3021-A7B8-613F-8CDEE0F3BF48}"/>
              </a:ext>
            </a:extLst>
          </p:cNvPr>
          <p:cNvSpPr txBox="1"/>
          <p:nvPr/>
        </p:nvSpPr>
        <p:spPr>
          <a:xfrm>
            <a:off x="442912" y="281672"/>
            <a:ext cx="13139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«Нейросеть для предсказания победы в </a:t>
            </a:r>
            <a:r>
              <a:rPr lang="ru-RU" sz="4400" dirty="0" err="1">
                <a:solidFill>
                  <a:schemeClr val="bg1"/>
                </a:solidFill>
              </a:rPr>
              <a:t>Dota</a:t>
            </a:r>
            <a:r>
              <a:rPr lang="ru-RU" sz="4400" dirty="0">
                <a:solidFill>
                  <a:schemeClr val="bg1"/>
                </a:solidFill>
              </a:rPr>
              <a:t>»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E1E38C-0E8B-9CA7-F101-349E48BFF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" y="2784152"/>
            <a:ext cx="73386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Нейрон 1</a:t>
            </a:r>
          </a:p>
          <a:p>
            <a:r>
              <a:rPr lang="en-US" b="1" dirty="0">
                <a:solidFill>
                  <a:schemeClr val="bg1"/>
                </a:solidFill>
              </a:rPr>
              <a:t>KDA   → -0.6 (</a:t>
            </a:r>
            <a:r>
              <a:rPr lang="ru-RU" b="1" dirty="0">
                <a:solidFill>
                  <a:schemeClr val="bg1"/>
                </a:solidFill>
              </a:rPr>
              <a:t>меньше </a:t>
            </a:r>
            <a:r>
              <a:rPr lang="ru-RU" b="1" dirty="0" err="1">
                <a:solidFill>
                  <a:schemeClr val="bg1"/>
                </a:solidFill>
              </a:rPr>
              <a:t>фидов</a:t>
            </a:r>
            <a:r>
              <a:rPr lang="ru-RU" b="1" dirty="0">
                <a:solidFill>
                  <a:schemeClr val="bg1"/>
                </a:solidFill>
              </a:rPr>
              <a:t> → меньше </a:t>
            </a:r>
            <a:r>
              <a:rPr lang="ru-RU" b="1" dirty="0" err="1">
                <a:solidFill>
                  <a:schemeClr val="bg1"/>
                </a:solidFill>
              </a:rPr>
              <a:t>тильта</a:t>
            </a:r>
            <a:r>
              <a:rPr lang="ru-RU" b="1" dirty="0">
                <a:solidFill>
                  <a:schemeClr val="bg1"/>
                </a:solidFill>
              </a:rPr>
              <a:t>)</a:t>
            </a:r>
          </a:p>
          <a:p>
            <a:r>
              <a:rPr lang="en-US" b="1" dirty="0">
                <a:solidFill>
                  <a:schemeClr val="bg1"/>
                </a:solidFill>
              </a:rPr>
              <a:t>WR    → -0.4</a:t>
            </a:r>
            <a:endParaRPr lang="ru-RU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GPM   → -0.2</a:t>
            </a:r>
            <a:endParaRPr lang="ru-RU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0F37E40C-6AA1-6E20-1338-5916159D2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475453"/>
              </p:ext>
            </p:extLst>
          </p:nvPr>
        </p:nvGraphicFramePr>
        <p:xfrm>
          <a:off x="5952291" y="6141559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72722654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249329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Признак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Смысл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59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x1 = KDA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боевой импакт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43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x2 =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WinRate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общая стабильность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512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x3 = GPM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фарм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249150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04EC30D2-D48B-9F73-6F75-A3075C9B4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" y="4026380"/>
            <a:ext cx="73386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Нейрон 2</a:t>
            </a:r>
          </a:p>
          <a:p>
            <a:r>
              <a:rPr lang="ru-RU" b="1" dirty="0">
                <a:solidFill>
                  <a:schemeClr val="bg1"/>
                </a:solidFill>
              </a:rPr>
              <a:t>KDA   → 1.2</a:t>
            </a:r>
          </a:p>
          <a:p>
            <a:r>
              <a:rPr lang="ru-RU" b="1" dirty="0">
                <a:solidFill>
                  <a:schemeClr val="bg1"/>
                </a:solidFill>
              </a:rPr>
              <a:t>WR    → 1.8  ← главный фактор</a:t>
            </a:r>
          </a:p>
          <a:p>
            <a:r>
              <a:rPr lang="ru-RU" b="1" dirty="0">
                <a:solidFill>
                  <a:schemeClr val="bg1"/>
                </a:solidFill>
              </a:rPr>
              <a:t>GPM   → 0.9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FCC1A1A-CC6F-88A3-CAD5-FDC92A1F1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" y="5288616"/>
            <a:ext cx="73386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Нейрон 3</a:t>
            </a:r>
          </a:p>
          <a:p>
            <a:r>
              <a:rPr lang="en-US" b="1" dirty="0">
                <a:solidFill>
                  <a:schemeClr val="bg1"/>
                </a:solidFill>
              </a:rPr>
              <a:t>KDA   → 0.3</a:t>
            </a:r>
            <a:endParaRPr lang="ru-RU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WR    → 1.5  ← </a:t>
            </a:r>
            <a:r>
              <a:rPr lang="ru-RU" b="1" dirty="0">
                <a:solidFill>
                  <a:schemeClr val="bg1"/>
                </a:solidFill>
              </a:rPr>
              <a:t>почти всё решает</a:t>
            </a:r>
          </a:p>
          <a:p>
            <a:r>
              <a:rPr lang="en-US" b="1" dirty="0">
                <a:solidFill>
                  <a:schemeClr val="bg1"/>
                </a:solidFill>
              </a:rPr>
              <a:t>GPM   → 0.4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9072B8-A294-49BC-1EA8-329219544F37}"/>
              </a:ext>
            </a:extLst>
          </p:cNvPr>
          <p:cNvSpPr txBox="1"/>
          <p:nvPr/>
        </p:nvSpPr>
        <p:spPr>
          <a:xfrm>
            <a:off x="2323652" y="1051113"/>
            <a:ext cx="103488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[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нейрон 1: </a:t>
            </a:r>
            <a:r>
              <a:rPr lang="ru-RU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tilt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.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чем хуже показатели, тем больше риск 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1.8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 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нейрон 2: вероятность победы 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нейрон 3: моральное состояние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276496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94DDE-3021-A7B8-613F-8CDEE0F3BF48}"/>
              </a:ext>
            </a:extLst>
          </p:cNvPr>
          <p:cNvSpPr txBox="1"/>
          <p:nvPr/>
        </p:nvSpPr>
        <p:spPr>
          <a:xfrm>
            <a:off x="442912" y="281672"/>
            <a:ext cx="13139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«Нормализация данных»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1E1E38C-0E8B-9CA7-F101-349E48BFF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" y="1549434"/>
            <a:ext cx="112829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нормализация входных данных</a:t>
            </a:r>
            <a:r>
              <a:rPr lang="ru-RU" dirty="0">
                <a:solidFill>
                  <a:schemeClr val="bg1"/>
                </a:solidFill>
              </a:rPr>
              <a:t> перед подачей в нейросеть.</a:t>
            </a:r>
          </a:p>
          <a:p>
            <a:r>
              <a:rPr lang="ru-RU" dirty="0">
                <a:solidFill>
                  <a:schemeClr val="bg1"/>
                </a:solidFill>
              </a:rPr>
              <a:t>В нашей сети мы просто умножаем входы на веса и суммируем: </a:t>
            </a:r>
            <a:r>
              <a:rPr lang="pl-PL" dirty="0">
                <a:solidFill>
                  <a:schemeClr val="bg1"/>
                </a:solidFill>
              </a:rPr>
              <a:t>x1*w1 + x2*w2 + x3*w3</a:t>
            </a:r>
            <a:endParaRPr lang="ru-RU" dirty="0">
              <a:solidFill>
                <a:schemeClr val="bg1"/>
              </a:solidFill>
            </a:endParaRP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Если один вход </a:t>
            </a:r>
            <a:r>
              <a:rPr lang="ru-RU" b="1" dirty="0">
                <a:solidFill>
                  <a:schemeClr val="bg1"/>
                </a:solidFill>
              </a:rPr>
              <a:t>очень большой</a:t>
            </a:r>
            <a:r>
              <a:rPr lang="ru-RU" dirty="0">
                <a:solidFill>
                  <a:schemeClr val="bg1"/>
                </a:solidFill>
              </a:rPr>
              <a:t>, а другой маленький, он </a:t>
            </a:r>
            <a:r>
              <a:rPr lang="ru-RU" b="1" dirty="0">
                <a:solidFill>
                  <a:schemeClr val="bg1"/>
                </a:solidFill>
              </a:rPr>
              <a:t>“забьёт” все остальные</a:t>
            </a:r>
            <a:r>
              <a:rPr lang="ru-RU" dirty="0">
                <a:solidFill>
                  <a:schemeClr val="bg1"/>
                </a:solidFill>
              </a:rPr>
              <a:t>.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Пример: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KDA = 2.1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WR = 0.48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GPM = 420</a:t>
            </a:r>
          </a:p>
          <a:p>
            <a:r>
              <a:rPr lang="ru-RU" dirty="0">
                <a:solidFill>
                  <a:schemeClr val="bg1"/>
                </a:solidFill>
              </a:rPr>
              <a:t>Если использовать их напрямую, GPM в 100 раз больше, чем KDA, и “перетянет” результат.</a:t>
            </a:r>
          </a:p>
          <a:p>
            <a:endParaRPr lang="ru-RU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423B465-2852-B492-FFB3-FD93A2FB4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940890"/>
              </p:ext>
            </p:extLst>
          </p:nvPr>
        </p:nvGraphicFramePr>
        <p:xfrm>
          <a:off x="954460" y="4652682"/>
          <a:ext cx="12116640" cy="2560320"/>
        </p:xfrm>
        <a:graphic>
          <a:graphicData uri="http://schemas.openxmlformats.org/drawingml/2006/table">
            <a:tbl>
              <a:tblPr/>
              <a:tblGrid>
                <a:gridCol w="3029160">
                  <a:extLst>
                    <a:ext uri="{9D8B030D-6E8A-4147-A177-3AD203B41FA5}">
                      <a16:colId xmlns:a16="http://schemas.microsoft.com/office/drawing/2014/main" val="1900390826"/>
                    </a:ext>
                  </a:extLst>
                </a:gridCol>
                <a:gridCol w="3029160">
                  <a:extLst>
                    <a:ext uri="{9D8B030D-6E8A-4147-A177-3AD203B41FA5}">
                      <a16:colId xmlns:a16="http://schemas.microsoft.com/office/drawing/2014/main" val="348218151"/>
                    </a:ext>
                  </a:extLst>
                </a:gridCol>
                <a:gridCol w="3029160">
                  <a:extLst>
                    <a:ext uri="{9D8B030D-6E8A-4147-A177-3AD203B41FA5}">
                      <a16:colId xmlns:a16="http://schemas.microsoft.com/office/drawing/2014/main" val="3545426739"/>
                    </a:ext>
                  </a:extLst>
                </a:gridCol>
                <a:gridCol w="3029160">
                  <a:extLst>
                    <a:ext uri="{9D8B030D-6E8A-4147-A177-3AD203B41FA5}">
                      <a16:colId xmlns:a16="http://schemas.microsoft.com/office/drawing/2014/main" val="1497737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Элемент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Деление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Результат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Пояснение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11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KDA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/5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2.1/5 ≈ 0.42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Приводим KDA к диапазону 0…1, чтобы он был сопоставим с WR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848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WR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0.48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WinRate уже в 0…1, делить не нужно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441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/600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</a:rPr>
                        <a:t>420/600 ≈ 0.7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Приводим GPM к 0…1 масштабу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843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99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964635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Предсказание / сравнение / обучение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BC596-FBD8-97DD-BA0D-10095D714FDB}"/>
              </a:ext>
            </a:extLst>
          </p:cNvPr>
          <p:cNvSpPr txBox="1"/>
          <p:nvPr/>
        </p:nvSpPr>
        <p:spPr>
          <a:xfrm>
            <a:off x="1083346" y="1428126"/>
            <a:ext cx="1285323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Сравнение позволяет оценить, насколько прогноз «промахнулся». выбор хорошего способа измерения ошибки — одна из самых сложных и важных задач в глубоком обучении.</a:t>
            </a:r>
          </a:p>
          <a:p>
            <a:pPr algn="ctr"/>
            <a:endParaRPr lang="ru-RU" sz="2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ctr"/>
            <a:r>
              <a:rPr lang="ru-RU" sz="2800" dirty="0">
                <a:solidFill>
                  <a:srgbClr val="CCCCCC"/>
                </a:solidFill>
                <a:latin typeface="Consolas" panose="020B0609020204030204" pitchFamily="49" charset="0"/>
              </a:rPr>
              <a:t>Ошибка всегда положительна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Рисунок 9" descr="Изображение выглядит как снимок экрана, Компьютерная игра, Стратегическая видеоигра, Программное обеспечение для видеоигр&#10;&#10;Автоматически созданное описание">
            <a:extLst>
              <a:ext uri="{FF2B5EF4-FFF2-40B4-BE49-F238E27FC236}">
                <a16:creationId xmlns:a16="http://schemas.microsoft.com/office/drawing/2014/main" id="{60D1849A-F849-978F-412C-96C89F468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403" y="4316945"/>
            <a:ext cx="10072415" cy="248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61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EF3595-F02D-F0AB-6597-396E89A04345}"/>
              </a:ext>
            </a:extLst>
          </p:cNvPr>
          <p:cNvSpPr txBox="1"/>
          <p:nvPr/>
        </p:nvSpPr>
        <p:spPr>
          <a:xfrm>
            <a:off x="625737" y="289929"/>
            <a:ext cx="1153040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/>
              <a:t>Среднеквадратическая ошибка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D15CF7-3019-F555-F9A2-598005C97077}"/>
              </a:ext>
            </a:extLst>
          </p:cNvPr>
          <p:cNvSpPr txBox="1"/>
          <p:nvPr/>
        </p:nvSpPr>
        <p:spPr>
          <a:xfrm>
            <a:off x="1241308" y="5516312"/>
            <a:ext cx="85299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Почему именно квадрат?</a:t>
            </a:r>
          </a:p>
          <a:p>
            <a:r>
              <a:rPr lang="ru-RU" dirty="0"/>
              <a:t>Вот 2 главные причины:</a:t>
            </a:r>
          </a:p>
          <a:p>
            <a:pPr>
              <a:buFont typeface="+mj-lt"/>
              <a:buAutoNum type="arabicPeriod"/>
            </a:pPr>
            <a:r>
              <a:rPr lang="ru-RU" dirty="0"/>
              <a:t>Все ошибки становятся положительными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Без квадрата: 0.5 - 1 = -0.5 (отрицательная ошибка)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dirty="0"/>
              <a:t>С квадратом: (-0.5)² = 0.25 (всегда положительная)</a:t>
            </a:r>
          </a:p>
          <a:p>
            <a:pPr>
              <a:buFont typeface="+mj-lt"/>
              <a:buAutoNum type="arabicPeriod"/>
            </a:pPr>
            <a:r>
              <a:rPr lang="ru-RU" dirty="0"/>
              <a:t>Большие ошибки "наказываются" сильнее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4A277D-79DF-0D51-E669-D5A01F7F9D74}"/>
              </a:ext>
            </a:extLst>
          </p:cNvPr>
          <p:cNvSpPr txBox="1"/>
          <p:nvPr/>
        </p:nvSpPr>
        <p:spPr>
          <a:xfrm>
            <a:off x="713052" y="3249369"/>
            <a:ext cx="128532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Мы кидаем хук, а он летит не в персонажа, а чуть в сторону. MSE — это способ измерить, </a:t>
            </a:r>
            <a:r>
              <a:rPr lang="ru-RU" sz="2800" b="1" dirty="0"/>
              <a:t>насколько сильно вы промахнулись.</a:t>
            </a:r>
          </a:p>
          <a:p>
            <a:pPr algn="ctr"/>
            <a:r>
              <a:rPr lang="ru-RU" sz="2800" dirty="0"/>
              <a:t>Исправление ошибки — это уже задача следующего этапа: обучения.</a:t>
            </a:r>
          </a:p>
        </p:txBody>
      </p:sp>
      <p:pic>
        <p:nvPicPr>
          <p:cNvPr id="3" name="Рисунок 2" descr="Изображение выглядит как снимок экрана, Компьютерная игра, Стратегическая видеоигра, Программное обеспечение для видеоигр&#10;&#10;Автоматически созданное описание">
            <a:extLst>
              <a:ext uri="{FF2B5EF4-FFF2-40B4-BE49-F238E27FC236}">
                <a16:creationId xmlns:a16="http://schemas.microsoft.com/office/drawing/2014/main" id="{23D2C559-00B8-9F67-80C1-2DD58A7F9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171" y="1354793"/>
            <a:ext cx="57150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799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683950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Обучение. Горячо/холодно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BC596-FBD8-97DD-BA0D-10095D714FDB}"/>
              </a:ext>
            </a:extLst>
          </p:cNvPr>
          <p:cNvSpPr txBox="1"/>
          <p:nvPr/>
        </p:nvSpPr>
        <p:spPr>
          <a:xfrm>
            <a:off x="1083346" y="1428126"/>
            <a:ext cx="128532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Пожалуй, самая простая форма обучения. Метод обучения «холодно/горячо» очень прост. После получения прогноза вычисляются еще два прогноза, в одном случае с немного увеличенным весом, а в другом — с немного уменьшенным. Затем производится изменение веса в том направлении, которое дало наименьшую ошибку. Многократное повторение этой процедуры в итоге уменьшило ошибку до 0.</a:t>
            </a:r>
          </a:p>
        </p:txBody>
      </p:sp>
    </p:spTree>
    <p:extLst>
      <p:ext uri="{BB962C8B-B14F-4D97-AF65-F5344CB8AC3E}">
        <p14:creationId xmlns:p14="http://schemas.microsoft.com/office/powerpoint/2010/main" val="4136339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4A277D-79DF-0D51-E669-D5A01F7F9D74}"/>
              </a:ext>
            </a:extLst>
          </p:cNvPr>
          <p:cNvSpPr txBox="1"/>
          <p:nvPr/>
        </p:nvSpPr>
        <p:spPr>
          <a:xfrm>
            <a:off x="811293" y="1738229"/>
            <a:ext cx="128532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Предположим, что мы пытаемся научить пуджа попадать хуком в другого персонажа, которого мы не видим. Пудж кидает хук и мы видим ошибку, значение, на которое мы промахнулись.</a:t>
            </a:r>
          </a:p>
          <a:p>
            <a:pPr algn="ctr"/>
            <a:r>
              <a:rPr lang="ru-RU" sz="2800" dirty="0"/>
              <a:t>Далее мы делаем два изменения веса – в большую сторону и в меньшую. После каждого изменения делаем ещё хук, получая при этом два значения. </a:t>
            </a:r>
          </a:p>
          <a:p>
            <a:pPr algn="ctr"/>
            <a:r>
              <a:rPr lang="ru-RU" sz="2800" dirty="0"/>
              <a:t>Далее выбирается вес с меньшей ошибкой и алгоритм повторяется заново.</a:t>
            </a:r>
          </a:p>
        </p:txBody>
      </p:sp>
    </p:spTree>
    <p:extLst>
      <p:ext uri="{BB962C8B-B14F-4D97-AF65-F5344CB8AC3E}">
        <p14:creationId xmlns:p14="http://schemas.microsoft.com/office/powerpoint/2010/main" val="577665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4A277D-79DF-0D51-E669-D5A01F7F9D74}"/>
              </a:ext>
            </a:extLst>
          </p:cNvPr>
          <p:cNvSpPr txBox="1"/>
          <p:nvPr/>
        </p:nvSpPr>
        <p:spPr>
          <a:xfrm>
            <a:off x="652595" y="1354793"/>
            <a:ext cx="12853238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de-DE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de-DE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step_amount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0.001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Шаг изменения веса в каждой итерации</a:t>
            </a:r>
            <a:endParaRPr lang="de-DE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iteration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1101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  <a:r>
              <a:rPr lang="ru-RU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Повторить обучение много </a:t>
            </a:r>
            <a:r>
              <a:rPr lang="ru-RU" sz="19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раз,чтобы</a:t>
            </a:r>
            <a:r>
              <a:rPr lang="ru-RU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получить наименьшую ошибку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endParaRPr lang="de-DE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de-DE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"Error:"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de-DE" sz="1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de-DE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up_prediction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step_amount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Попробовать увеличить!</a:t>
            </a:r>
            <a:endParaRPr lang="ru-RU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up_error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up_prediction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de-DE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down_prediction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step_amount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Попробовать уменьшить!</a:t>
            </a:r>
            <a:endParaRPr lang="ru-RU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down_error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down_prediction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de-DE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down_error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up_error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step_amount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ru-RU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Е</a:t>
            </a:r>
            <a:r>
              <a:rPr lang="de-DE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ru-RU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ли уменьшение дало лучший результат, то уменьшить</a:t>
            </a:r>
            <a:endParaRPr lang="ru-RU" sz="19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9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down_error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up_error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step_amount</a:t>
            </a:r>
            <a:r>
              <a:rPr lang="ru-RU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ru-RU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Е</a:t>
            </a:r>
            <a:r>
              <a:rPr lang="de-DE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ru-RU" sz="19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ли увеличение дало лучший результат, то увеличить</a:t>
            </a:r>
            <a:r>
              <a:rPr lang="de-DE" sz="1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803A3-C3E3-EFC9-3CEE-F2A45AAA6CB0}"/>
              </a:ext>
            </a:extLst>
          </p:cNvPr>
          <p:cNvSpPr txBox="1"/>
          <p:nvPr/>
        </p:nvSpPr>
        <p:spPr>
          <a:xfrm>
            <a:off x="652595" y="6504925"/>
            <a:ext cx="111314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Error:0.3025 Prediction:0.25</a:t>
            </a:r>
          </a:p>
          <a:p>
            <a:r>
              <a:rPr lang="ru-RU" dirty="0"/>
              <a:t>Error:0.30195025 Prediction:0.2505</a:t>
            </a:r>
          </a:p>
          <a:p>
            <a:r>
              <a:rPr lang="ru-RU" dirty="0"/>
              <a:t>Error:2.50000000033e-07 Prediction:0.7995</a:t>
            </a:r>
          </a:p>
          <a:p>
            <a:r>
              <a:rPr lang="ru-RU" dirty="0" err="1"/>
              <a:t>Error</a:t>
            </a:r>
            <a:r>
              <a:rPr lang="ru-RU" dirty="0"/>
              <a:t> :1.07995057925e-27 </a:t>
            </a:r>
            <a:r>
              <a:rPr lang="ru-RU" dirty="0" err="1"/>
              <a:t>Prediction</a:t>
            </a:r>
            <a:r>
              <a:rPr lang="ru-RU" dirty="0"/>
              <a:t>: 0.8 ◄------ На последнем шаге получен точный прогноз 0.8!</a:t>
            </a:r>
          </a:p>
        </p:txBody>
      </p:sp>
    </p:spTree>
    <p:extLst>
      <p:ext uri="{BB962C8B-B14F-4D97-AF65-F5344CB8AC3E}">
        <p14:creationId xmlns:p14="http://schemas.microsoft.com/office/powerpoint/2010/main" val="4255068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220246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Минусы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BC596-FBD8-97DD-BA0D-10095D714FDB}"/>
              </a:ext>
            </a:extLst>
          </p:cNvPr>
          <p:cNvSpPr txBox="1"/>
          <p:nvPr/>
        </p:nvSpPr>
        <p:spPr>
          <a:xfrm>
            <a:off x="1083346" y="1138064"/>
            <a:ext cx="1285323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Проблема 1: он неэффективен</a:t>
            </a:r>
          </a:p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Этот метод требует вычислить прогноз несколько раз, чтобы один раз изменить. Это решение выглядит очень неэффективным.</a:t>
            </a:r>
          </a:p>
          <a:p>
            <a:pPr algn="just"/>
            <a:endParaRPr lang="ru-RU" sz="2800" dirty="0">
              <a:solidFill>
                <a:schemeClr val="bg1"/>
              </a:solidFill>
              <a:latin typeface="+mj-lt"/>
            </a:endParaRPr>
          </a:p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Проблема 2: иногда невозможно добиться идеальной точности прогнозирования</a:t>
            </a:r>
          </a:p>
          <a:p>
            <a:pPr algn="just"/>
            <a:endParaRPr lang="ru-RU" sz="2800" b="0" dirty="0">
              <a:solidFill>
                <a:schemeClr val="bg1"/>
              </a:solidFill>
              <a:effectLst/>
              <a:latin typeface="+mj-lt"/>
            </a:endParaRPr>
          </a:p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При выбранном значении </a:t>
            </a:r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step_amount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, если только идеальное значение веса</a:t>
            </a:r>
          </a:p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не равно n*</a:t>
            </a:r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step_amount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, сеть достигнет значения, отстоящего от точного прогноза на некоторую величину меньше </a:t>
            </a:r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step_amount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, и начнет колебаться вокруг</a:t>
            </a:r>
          </a:p>
          <a:p>
            <a:pPr algn="just"/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goal_prediction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 вверх и вниз. Присвойте переменной </a:t>
            </a:r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step_amount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 значение</a:t>
            </a:r>
          </a:p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0.2, чтобы убедиться в этом. Если для </a:t>
            </a:r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step_amount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 выбрать значение 10, вы</a:t>
            </a:r>
          </a:p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фактически нарушите работу сети. Попробовав сделать так, вы увидите, что</a:t>
            </a:r>
          </a:p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алгоритм даже не пытается приблизиться к 0.8! Проблема в том, что, зная правильное направление для изменения веса, мы не знаем правильной величины этого изменения. </a:t>
            </a:r>
          </a:p>
        </p:txBody>
      </p:sp>
    </p:spTree>
    <p:extLst>
      <p:ext uri="{BB962C8B-B14F-4D97-AF65-F5344CB8AC3E}">
        <p14:creationId xmlns:p14="http://schemas.microsoft.com/office/powerpoint/2010/main" val="13583701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94DDE-3021-A7B8-613F-8CDEE0F3BF48}"/>
              </a:ext>
            </a:extLst>
          </p:cNvPr>
          <p:cNvSpPr txBox="1"/>
          <p:nvPr/>
        </p:nvSpPr>
        <p:spPr>
          <a:xfrm>
            <a:off x="442912" y="281672"/>
            <a:ext cx="13139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Пробуем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83B378-6260-0EF2-A6BB-718B0EB43E38}"/>
              </a:ext>
            </a:extLst>
          </p:cNvPr>
          <p:cNvSpPr txBox="1"/>
          <p:nvPr/>
        </p:nvSpPr>
        <p:spPr>
          <a:xfrm>
            <a:off x="3574333" y="553037"/>
            <a:ext cx="6876894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1.2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1.8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  </a:t>
            </a:r>
            <a:r>
              <a:rPr lang="de-D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вероятность победы</a:t>
            </a:r>
            <a:endParaRPr lang="ru-RU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ru-RU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</a:t>
            </a:r>
            <a:r>
              <a:rPr lang="ru-RU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ru-RU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ru-RU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 </a:t>
            </a:r>
            <a:r>
              <a:rPr lang="ru-RU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de-D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tilt</a:t>
            </a:r>
            <a:endParaRPr lang="de-D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 </a:t>
            </a:r>
            <a:r>
              <a:rPr lang="de-D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мораль</a:t>
            </a:r>
            <a:endParaRPr lang="ru-RU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ru-RU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2.1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0.48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420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3.4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0.61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510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1.8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0.42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380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4.2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0.73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560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взвешенная сумма</a:t>
            </a:r>
            <a:endParaRPr lang="ru-RU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3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w_sum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  <a:b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вектор * матрица</a:t>
            </a:r>
            <a:endParaRPr lang="ru-RU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3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vect_mat_mul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vect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matrix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  <a:b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3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vect_mat_mul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 </a:t>
            </a:r>
            <a:r>
              <a:rPr lang="ru-RU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ОБУЧЕНИЕ МЕТОДОМ "ГОРЯЧО-ХОЛОДНО" ===</a:t>
            </a:r>
            <a:endParaRPr lang="ru-RU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step_amount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de-D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размер шага</a:t>
            </a:r>
            <a:endParaRPr lang="ru-RU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epochs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de-DE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13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количество проходов по данным</a:t>
            </a:r>
            <a:br>
              <a:rPr lang="ru-RU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epoch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epochs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  <a:b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3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3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 </a:t>
            </a:r>
            <a:r>
              <a:rPr lang="ru-RU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РЕЗУЛЬТАТЫ ПОСЛЕ ОБУЧЕНИЯ ===</a:t>
            </a:r>
            <a:r>
              <a:rPr lang="ru-RU" sz="13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de-DE" sz="13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3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KDA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WR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GPM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WIN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row</a:t>
            </a:r>
            <a:endParaRPr lang="de-D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input_data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13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KDA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WR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GPM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input_data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weights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2.5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WIN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</a:t>
            </a:r>
            <a:endParaRPr lang="de-D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3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Предсказание: </a:t>
            </a:r>
            <a:r>
              <a:rPr lang="ru-RU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de-DE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:.3f}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цель: </a:t>
            </a:r>
            <a:r>
              <a:rPr lang="ru-RU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</a:t>
            </a:r>
            <a:r>
              <a:rPr lang="de-DE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3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Факт: </a:t>
            </a:r>
            <a:r>
              <a:rPr lang="ru-RU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WIN'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WIN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'LOSE'</a:t>
            </a:r>
            <a:r>
              <a:rPr lang="de-DE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"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endParaRPr lang="de-DE" sz="13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de-DE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Предсказание: </a:t>
            </a:r>
            <a:r>
              <a:rPr lang="ru-RU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WIN'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de-DE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'LOSE'</a:t>
            </a:r>
            <a:r>
              <a:rPr lang="de-DE" sz="13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sz="13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de-DE" sz="13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3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1503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1049133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1 вход 1 нейрон 1 вес и градиентный спуск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BC596-FBD8-97DD-BA0D-10095D714FDB}"/>
              </a:ext>
            </a:extLst>
          </p:cNvPr>
          <p:cNvSpPr txBox="1"/>
          <p:nvPr/>
        </p:nvSpPr>
        <p:spPr>
          <a:xfrm>
            <a:off x="1083346" y="1138064"/>
            <a:ext cx="128532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Измерим ошибку и определим направление и величину изменения!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42CA4-3D3C-AE19-4620-3267BAAE18F5}"/>
              </a:ext>
            </a:extLst>
          </p:cNvPr>
          <p:cNvSpPr txBox="1"/>
          <p:nvPr/>
        </p:nvSpPr>
        <p:spPr>
          <a:xfrm>
            <a:off x="1083345" y="1483378"/>
            <a:ext cx="1003372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iteration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direction_and_amount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ru-R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----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direction_and_amount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Prediction:"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9C5501-86CA-956D-DEB2-950273680EED}"/>
              </a:ext>
            </a:extLst>
          </p:cNvPr>
          <p:cNvSpPr txBox="1"/>
          <p:nvPr/>
        </p:nvSpPr>
        <p:spPr>
          <a:xfrm>
            <a:off x="790340" y="5016403"/>
            <a:ext cx="128532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Перед вами более эффективный метод обучения, известный как градиентный</a:t>
            </a:r>
          </a:p>
          <a:p>
            <a:pPr algn="ctr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спуск. Этот метод позволяет в одной строке кода (выделена стрелкой) вычислить сразу и направление, и величину изменения веса </a:t>
            </a:r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weight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 для уменьшения</a:t>
            </a:r>
          </a:p>
          <a:p>
            <a:pPr algn="ctr"/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ошибки </a:t>
            </a:r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error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4318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803A3-C3E3-EFC9-3CEE-F2A45AAA6CB0}"/>
              </a:ext>
            </a:extLst>
          </p:cNvPr>
          <p:cNvSpPr txBox="1"/>
          <p:nvPr/>
        </p:nvSpPr>
        <p:spPr>
          <a:xfrm>
            <a:off x="509010" y="2094191"/>
            <a:ext cx="77357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Переменная </a:t>
            </a:r>
            <a:r>
              <a:rPr lang="ru-RU" dirty="0" err="1"/>
              <a:t>direction_and_amount</a:t>
            </a:r>
            <a:r>
              <a:rPr lang="ru-RU" dirty="0"/>
              <a:t> представляет, как должен измениться вес. Чтобы получить ее значение, код сначала О вычисляет чистую ошибку (</a:t>
            </a:r>
            <a:r>
              <a:rPr lang="ru-RU" dirty="0" err="1"/>
              <a:t>pred</a:t>
            </a:r>
            <a:r>
              <a:rPr lang="ru-RU" dirty="0"/>
              <a:t> - </a:t>
            </a:r>
            <a:r>
              <a:rPr lang="ru-RU" dirty="0" err="1"/>
              <a:t>goal_pred</a:t>
            </a:r>
            <a:r>
              <a:rPr lang="ru-RU" dirty="0"/>
              <a:t>). А затем О умножает ее на </a:t>
            </a:r>
            <a:r>
              <a:rPr lang="ru-RU" dirty="0" err="1"/>
              <a:t>input</a:t>
            </a:r>
            <a:r>
              <a:rPr lang="ru-RU" dirty="0"/>
              <a:t>, чтобы выполнить масштабирование, обращение знака и остановку, превращая чистую ошибку в значение, пригодное для изменения </a:t>
            </a:r>
            <a:r>
              <a:rPr lang="ru-RU" dirty="0" err="1"/>
              <a:t>weight</a:t>
            </a:r>
            <a:r>
              <a:rPr lang="ru-RU" dirty="0"/>
              <a:t>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Чистая ошибка — это разность (</a:t>
            </a:r>
            <a:r>
              <a:rPr lang="ru-RU" dirty="0" err="1"/>
              <a:t>pred</a:t>
            </a:r>
            <a:r>
              <a:rPr lang="ru-RU" dirty="0"/>
              <a:t> - </a:t>
            </a:r>
            <a:r>
              <a:rPr lang="ru-RU" dirty="0" err="1"/>
              <a:t>goal_pred</a:t>
            </a:r>
            <a:r>
              <a:rPr lang="ru-RU" dirty="0"/>
              <a:t>), определяющая направление и величину промаха. Если это положительное число, значит, прогноз слишком велик, и наоборот. Если это большое число, значит, вы сильно промахнулись, и так далее.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AFE1C-5211-4893-C6F7-170188F30290}"/>
              </a:ext>
            </a:extLst>
          </p:cNvPr>
          <p:cNvSpPr txBox="1"/>
          <p:nvPr/>
        </p:nvSpPr>
        <p:spPr>
          <a:xfrm>
            <a:off x="8753371" y="2373801"/>
            <a:ext cx="53818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200" b="0" dirty="0"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effectLst/>
                <a:latin typeface="Consolas" panose="020B0609020204030204" pitchFamily="49" charset="0"/>
              </a:rPr>
              <a:t>weight =0.5</a:t>
            </a:r>
          </a:p>
          <a:p>
            <a:r>
              <a:rPr lang="en-US" sz="1200" b="0" dirty="0" err="1">
                <a:effectLst/>
                <a:latin typeface="Consolas" panose="020B0609020204030204" pitchFamily="49" charset="0"/>
              </a:rPr>
              <a:t>goal_pred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=0.8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input =0.5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for iteration in range(20):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    pred = input * weight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    error = (pred -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goal_pred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) ** 2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direction_and_amount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= (pred -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goal_pred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) * input</a:t>
            </a: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    weight = weight -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direction_and_amount</a:t>
            </a:r>
            <a:endParaRPr lang="en-US" sz="1200" b="0" dirty="0"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effectLst/>
                <a:latin typeface="Consolas" panose="020B0609020204030204" pitchFamily="49" charset="0"/>
              </a:rPr>
              <a:t>    print("Error:" + str(error) + " Prediction:" + str(pred))</a:t>
            </a:r>
          </a:p>
        </p:txBody>
      </p:sp>
    </p:spTree>
    <p:extLst>
      <p:ext uri="{BB962C8B-B14F-4D97-AF65-F5344CB8AC3E}">
        <p14:creationId xmlns:p14="http://schemas.microsoft.com/office/powerpoint/2010/main" val="1617020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1217096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Масштабирование, обращение знака и остановка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BC596-FBD8-97DD-BA0D-10095D714FDB}"/>
              </a:ext>
            </a:extLst>
          </p:cNvPr>
          <p:cNvSpPr txBox="1"/>
          <p:nvPr/>
        </p:nvSpPr>
        <p:spPr>
          <a:xfrm>
            <a:off x="588442" y="1573752"/>
            <a:ext cx="1285323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Масшабирование</a:t>
            </a:r>
            <a:endParaRPr lang="ru-RU" sz="2800" b="0" dirty="0">
              <a:solidFill>
                <a:schemeClr val="bg1"/>
              </a:solidFill>
              <a:effectLst/>
              <a:latin typeface="+mj-lt"/>
            </a:endParaRPr>
          </a:p>
          <a:p>
            <a:r>
              <a:rPr lang="ru-RU" sz="2800" dirty="0">
                <a:solidFill>
                  <a:schemeClr val="bg1"/>
                </a:solidFill>
                <a:latin typeface="+mj-lt"/>
              </a:rPr>
              <a:t>Это означает </a:t>
            </a:r>
            <a:r>
              <a:rPr lang="ru-RU" sz="2800" b="1" dirty="0">
                <a:solidFill>
                  <a:schemeClr val="bg1"/>
                </a:solidFill>
                <a:latin typeface="+mj-lt"/>
              </a:rPr>
              <a:t>насколько сильно менять вес</a:t>
            </a:r>
            <a:r>
              <a:rPr lang="ru-RU" sz="28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r>
              <a:rPr lang="ru-RU" sz="2800" dirty="0">
                <a:solidFill>
                  <a:schemeClr val="bg1"/>
                </a:solidFill>
                <a:latin typeface="+mj-lt"/>
              </a:rPr>
              <a:t>В градиентном спуске это делает </a:t>
            </a:r>
            <a:r>
              <a:rPr lang="ru-RU" sz="2800" b="1" dirty="0">
                <a:solidFill>
                  <a:schemeClr val="bg1"/>
                </a:solidFill>
                <a:latin typeface="+mj-lt"/>
              </a:rPr>
              <a:t>вход (</a:t>
            </a:r>
            <a:r>
              <a:rPr lang="ru-RU" sz="2800" b="1" dirty="0" err="1">
                <a:solidFill>
                  <a:schemeClr val="bg1"/>
                </a:solidFill>
                <a:latin typeface="+mj-lt"/>
              </a:rPr>
              <a:t>input</a:t>
            </a:r>
            <a:r>
              <a:rPr lang="ru-RU" sz="2800" b="1" dirty="0">
                <a:solidFill>
                  <a:schemeClr val="bg1"/>
                </a:solidFill>
                <a:latin typeface="+mj-lt"/>
              </a:rPr>
              <a:t>).</a:t>
            </a:r>
          </a:p>
          <a:p>
            <a:endParaRPr lang="ru-RU" sz="2800" b="1" dirty="0">
              <a:solidFill>
                <a:schemeClr val="bg1"/>
              </a:solidFill>
              <a:latin typeface="+mj-lt"/>
            </a:endParaRP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gradient = (pred - </a:t>
            </a:r>
            <a:r>
              <a:rPr lang="en-US" sz="2800" dirty="0" err="1">
                <a:solidFill>
                  <a:schemeClr val="bg1"/>
                </a:solidFill>
                <a:latin typeface="+mj-lt"/>
              </a:rPr>
              <a:t>goal_pred</a:t>
            </a:r>
            <a:r>
              <a:rPr lang="en-US" sz="2800" dirty="0">
                <a:solidFill>
                  <a:schemeClr val="bg1"/>
                </a:solidFill>
                <a:latin typeface="+mj-lt"/>
              </a:rPr>
              <a:t>) * input</a:t>
            </a:r>
            <a:endParaRPr lang="ru-RU" sz="2800" dirty="0">
              <a:solidFill>
                <a:schemeClr val="bg1"/>
              </a:solidFill>
              <a:latin typeface="+mj-lt"/>
            </a:endParaRPr>
          </a:p>
          <a:p>
            <a:endParaRPr lang="ru-RU" sz="2800" b="1" dirty="0">
              <a:solidFill>
                <a:schemeClr val="bg1"/>
              </a:solidFill>
              <a:latin typeface="+mj-lt"/>
            </a:endParaRPr>
          </a:p>
          <a:p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Если </a:t>
            </a:r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input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 большой → изменение веса будет большим.</a:t>
            </a:r>
          </a:p>
          <a:p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Если </a:t>
            </a:r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input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 маленький → изменение веса будет маленьким.</a:t>
            </a:r>
          </a:p>
          <a:p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input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 = 0.1 → маленькое изменение веса</a:t>
            </a:r>
          </a:p>
          <a:p>
            <a:r>
              <a:rPr lang="ru-RU" sz="2800" b="0" dirty="0" err="1">
                <a:solidFill>
                  <a:schemeClr val="bg1"/>
                </a:solidFill>
                <a:effectLst/>
                <a:latin typeface="+mj-lt"/>
              </a:rPr>
              <a:t>input</a:t>
            </a:r>
            <a:r>
              <a:rPr lang="ru-RU" sz="2800" b="0" dirty="0">
                <a:solidFill>
                  <a:schemeClr val="bg1"/>
                </a:solidFill>
                <a:effectLst/>
                <a:latin typeface="+mj-lt"/>
              </a:rPr>
              <a:t> = 10  → большое изменение веса</a:t>
            </a:r>
          </a:p>
          <a:p>
            <a:r>
              <a:rPr lang="ru-RU" sz="2800" dirty="0">
                <a:solidFill>
                  <a:schemeClr val="bg1"/>
                </a:solidFill>
                <a:latin typeface="+mj-lt"/>
              </a:rPr>
              <a:t>То есть </a:t>
            </a:r>
            <a:r>
              <a:rPr lang="ru-RU" sz="2800" b="1" dirty="0" err="1">
                <a:solidFill>
                  <a:schemeClr val="bg1"/>
                </a:solidFill>
                <a:latin typeface="+mj-lt"/>
              </a:rPr>
              <a:t>input</a:t>
            </a:r>
            <a:r>
              <a:rPr lang="ru-RU" sz="2800" b="1" dirty="0">
                <a:solidFill>
                  <a:schemeClr val="bg1"/>
                </a:solidFill>
                <a:latin typeface="+mj-lt"/>
              </a:rPr>
              <a:t> масштабирует изменение веса</a:t>
            </a:r>
            <a:r>
              <a:rPr lang="ru-RU" sz="28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r>
              <a:rPr lang="ru-RU" sz="2800" dirty="0">
                <a:solidFill>
                  <a:schemeClr val="bg1"/>
                </a:solidFill>
                <a:latin typeface="+mj-lt"/>
              </a:rPr>
              <a:t>Поэтому это называют </a:t>
            </a:r>
            <a:r>
              <a:rPr lang="ru-RU" sz="2800" b="1" dirty="0">
                <a:solidFill>
                  <a:schemeClr val="bg1"/>
                </a:solidFill>
                <a:latin typeface="+mj-lt"/>
              </a:rPr>
              <a:t>масштабирование</a:t>
            </a:r>
            <a:r>
              <a:rPr lang="ru-RU" sz="2800" dirty="0">
                <a:solidFill>
                  <a:schemeClr val="bg1"/>
                </a:solidFill>
                <a:latin typeface="+mj-lt"/>
              </a:rPr>
              <a:t>.</a:t>
            </a:r>
          </a:p>
          <a:p>
            <a:endParaRPr lang="ru-RU" sz="2800" b="0" dirty="0">
              <a:solidFill>
                <a:schemeClr val="bg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5263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297412" y="407076"/>
            <a:ext cx="126250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Масштабирование, обращение знака и остановка</a:t>
            </a:r>
            <a:endParaRPr lang="ru-RU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CB2A4C-0964-68F5-75E3-8DFAC52581C6}"/>
              </a:ext>
            </a:extLst>
          </p:cNvPr>
          <p:cNvSpPr txBox="1"/>
          <p:nvPr/>
        </p:nvSpPr>
        <p:spPr>
          <a:xfrm>
            <a:off x="588442" y="1573752"/>
            <a:ext cx="1285323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Это отвечает за направление движения веса.</a:t>
            </a:r>
          </a:p>
          <a:p>
            <a:r>
              <a:rPr lang="ru-RU" sz="2800" dirty="0"/>
              <a:t>Посмотрим на часть формулы:</a:t>
            </a:r>
          </a:p>
          <a:p>
            <a:endParaRPr lang="ru-RU" sz="2800" dirty="0"/>
          </a:p>
          <a:p>
            <a:r>
              <a:rPr lang="de-DE" sz="2800" dirty="0"/>
              <a:t>(</a:t>
            </a:r>
            <a:r>
              <a:rPr lang="de-DE" sz="2800" dirty="0" err="1"/>
              <a:t>pred</a:t>
            </a:r>
            <a:r>
              <a:rPr lang="de-DE" sz="2800" dirty="0"/>
              <a:t> - </a:t>
            </a:r>
            <a:r>
              <a:rPr lang="de-DE" sz="2800" dirty="0" err="1"/>
              <a:t>goal_pred</a:t>
            </a:r>
            <a:r>
              <a:rPr lang="de-DE" sz="2800" dirty="0"/>
              <a:t>)</a:t>
            </a:r>
            <a:endParaRPr lang="ru-RU" sz="2800" dirty="0"/>
          </a:p>
          <a:p>
            <a:r>
              <a:rPr lang="ru-RU" sz="2800" dirty="0"/>
              <a:t>Возможны два случая.</a:t>
            </a:r>
          </a:p>
          <a:p>
            <a:r>
              <a:rPr lang="ru-RU" sz="2800" dirty="0"/>
              <a:t>Случай 1 — предсказание слишком большое – вес уменьшается</a:t>
            </a:r>
          </a:p>
          <a:p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Случай 2 — предсказание слишком маленькое – вес увеличивается</a:t>
            </a:r>
          </a:p>
          <a:p>
            <a:endParaRPr lang="ru-RU" sz="2800" dirty="0"/>
          </a:p>
          <a:p>
            <a:r>
              <a:rPr lang="ru-RU" sz="2800" dirty="0"/>
              <a:t>То есть знак ошибки переворачивает направление движения веса.</a:t>
            </a:r>
          </a:p>
          <a:p>
            <a:r>
              <a:rPr lang="ru-RU" sz="2800" dirty="0"/>
              <a:t>Это и называют обращение знака.</a:t>
            </a:r>
          </a:p>
          <a:p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C0D62-A878-39FA-44BB-19947D9ECA54}"/>
              </a:ext>
            </a:extLst>
          </p:cNvPr>
          <p:cNvSpPr txBox="1"/>
          <p:nvPr/>
        </p:nvSpPr>
        <p:spPr>
          <a:xfrm>
            <a:off x="11222182" y="3416280"/>
            <a:ext cx="2042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pred</a:t>
            </a:r>
            <a:r>
              <a:rPr lang="ru-RU" dirty="0"/>
              <a:t> = 1.2</a:t>
            </a:r>
          </a:p>
          <a:p>
            <a:r>
              <a:rPr lang="ru-RU" dirty="0" err="1"/>
              <a:t>goal</a:t>
            </a:r>
            <a:r>
              <a:rPr lang="ru-RU" dirty="0"/>
              <a:t> = 1.0</a:t>
            </a:r>
          </a:p>
          <a:p>
            <a:r>
              <a:rPr lang="ru-RU" dirty="0" err="1"/>
              <a:t>pred</a:t>
            </a:r>
            <a:r>
              <a:rPr lang="ru-RU" dirty="0"/>
              <a:t> - </a:t>
            </a:r>
            <a:r>
              <a:rPr lang="ru-RU" dirty="0" err="1"/>
              <a:t>goal</a:t>
            </a:r>
            <a:r>
              <a:rPr lang="ru-RU" dirty="0"/>
              <a:t> = +0.2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291A78-DB7D-15C3-C86C-09EFA8046150}"/>
              </a:ext>
            </a:extLst>
          </p:cNvPr>
          <p:cNvSpPr txBox="1"/>
          <p:nvPr/>
        </p:nvSpPr>
        <p:spPr>
          <a:xfrm>
            <a:off x="11214625" y="4736845"/>
            <a:ext cx="20422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pred</a:t>
            </a:r>
            <a:r>
              <a:rPr lang="ru-RU" dirty="0"/>
              <a:t> = 0.5</a:t>
            </a:r>
          </a:p>
          <a:p>
            <a:r>
              <a:rPr lang="ru-RU" dirty="0" err="1"/>
              <a:t>goal</a:t>
            </a:r>
            <a:r>
              <a:rPr lang="ru-RU" dirty="0"/>
              <a:t> = 1.0</a:t>
            </a:r>
          </a:p>
          <a:p>
            <a:r>
              <a:rPr lang="ru-RU" dirty="0" err="1"/>
              <a:t>pred</a:t>
            </a:r>
            <a:r>
              <a:rPr lang="ru-RU" dirty="0"/>
              <a:t> - </a:t>
            </a:r>
            <a:r>
              <a:rPr lang="ru-RU" dirty="0" err="1"/>
              <a:t>goal</a:t>
            </a:r>
            <a:r>
              <a:rPr lang="ru-RU" dirty="0"/>
              <a:t> = -0.5</a:t>
            </a:r>
          </a:p>
        </p:txBody>
      </p:sp>
    </p:spTree>
    <p:extLst>
      <p:ext uri="{BB962C8B-B14F-4D97-AF65-F5344CB8AC3E}">
        <p14:creationId xmlns:p14="http://schemas.microsoft.com/office/powerpoint/2010/main" val="1021326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1217096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Масштабирование, обращение знака и остановка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BC596-FBD8-97DD-BA0D-10095D714FDB}"/>
              </a:ext>
            </a:extLst>
          </p:cNvPr>
          <p:cNvSpPr txBox="1"/>
          <p:nvPr/>
        </p:nvSpPr>
        <p:spPr>
          <a:xfrm>
            <a:off x="625737" y="1698754"/>
            <a:ext cx="1285323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chemeClr val="bg1"/>
                </a:solidFill>
                <a:latin typeface="+mj-lt"/>
              </a:rPr>
              <a:t>Остановка (</a:t>
            </a:r>
            <a:r>
              <a:rPr lang="de-DE" sz="2800" dirty="0" err="1">
                <a:solidFill>
                  <a:schemeClr val="bg1"/>
                </a:solidFill>
                <a:latin typeface="+mj-lt"/>
              </a:rPr>
              <a:t>stopping</a:t>
            </a:r>
            <a:r>
              <a:rPr lang="de-DE" sz="2800" dirty="0">
                <a:solidFill>
                  <a:schemeClr val="bg1"/>
                </a:solidFill>
                <a:latin typeface="+mj-lt"/>
              </a:rPr>
              <a:t>)</a:t>
            </a:r>
            <a:endParaRPr lang="ru-RU" sz="2800" dirty="0">
              <a:solidFill>
                <a:schemeClr val="bg1"/>
              </a:solidFill>
              <a:latin typeface="+mj-lt"/>
            </a:endParaRPr>
          </a:p>
          <a:p>
            <a:r>
              <a:rPr lang="ru-RU" sz="2800" dirty="0">
                <a:solidFill>
                  <a:schemeClr val="bg1"/>
                </a:solidFill>
                <a:latin typeface="+mj-lt"/>
              </a:rPr>
              <a:t>Это происходит, когда ошибка становится нулевой.</a:t>
            </a:r>
          </a:p>
          <a:p>
            <a:r>
              <a:rPr lang="ru-RU" sz="2800" dirty="0">
                <a:solidFill>
                  <a:schemeClr val="bg1"/>
                </a:solidFill>
                <a:latin typeface="+mj-lt"/>
              </a:rPr>
              <a:t>Например:</a:t>
            </a:r>
          </a:p>
          <a:p>
            <a:pPr algn="just"/>
            <a:r>
              <a:rPr lang="de-DE" sz="2800" dirty="0" err="1">
                <a:solidFill>
                  <a:schemeClr val="bg1"/>
                </a:solidFill>
                <a:effectLst/>
                <a:latin typeface="+mj-lt"/>
              </a:rPr>
              <a:t>pred</a:t>
            </a:r>
            <a:r>
              <a:rPr lang="de-DE" sz="2800" dirty="0">
                <a:solidFill>
                  <a:schemeClr val="bg1"/>
                </a:solidFill>
                <a:effectLst/>
                <a:latin typeface="+mj-lt"/>
              </a:rPr>
              <a:t> = </a:t>
            </a:r>
            <a:r>
              <a:rPr lang="de-DE" sz="2800" dirty="0" err="1">
                <a:solidFill>
                  <a:schemeClr val="bg1"/>
                </a:solidFill>
                <a:effectLst/>
                <a:latin typeface="+mj-lt"/>
              </a:rPr>
              <a:t>goal_pred</a:t>
            </a:r>
            <a:endParaRPr lang="ru-RU" sz="2800" dirty="0">
              <a:solidFill>
                <a:schemeClr val="bg1"/>
              </a:solidFill>
              <a:effectLst/>
              <a:latin typeface="+mj-lt"/>
            </a:endParaRPr>
          </a:p>
          <a:p>
            <a:pPr algn="just"/>
            <a:r>
              <a:rPr lang="en-US" sz="2800" dirty="0">
                <a:solidFill>
                  <a:schemeClr val="bg1"/>
                </a:solidFill>
                <a:effectLst/>
                <a:latin typeface="+mj-lt"/>
              </a:rPr>
              <a:t>gradient = (pred - </a:t>
            </a:r>
            <a:r>
              <a:rPr lang="en-US" sz="2800" dirty="0" err="1">
                <a:solidFill>
                  <a:schemeClr val="bg1"/>
                </a:solidFill>
                <a:effectLst/>
                <a:latin typeface="+mj-lt"/>
              </a:rPr>
              <a:t>goal_pred</a:t>
            </a:r>
            <a:r>
              <a:rPr lang="en-US" sz="2800" dirty="0">
                <a:solidFill>
                  <a:schemeClr val="bg1"/>
                </a:solidFill>
                <a:effectLst/>
                <a:latin typeface="+mj-lt"/>
              </a:rPr>
              <a:t>) * input</a:t>
            </a:r>
            <a:endParaRPr lang="ru-RU" sz="2800" dirty="0">
              <a:solidFill>
                <a:schemeClr val="bg1"/>
              </a:solidFill>
              <a:effectLst/>
              <a:latin typeface="+mj-lt"/>
            </a:endParaRPr>
          </a:p>
          <a:p>
            <a:pPr algn="just"/>
            <a:r>
              <a:rPr lang="en-US" sz="2800" dirty="0">
                <a:solidFill>
                  <a:schemeClr val="bg1"/>
                </a:solidFill>
                <a:effectLst/>
                <a:latin typeface="+mj-lt"/>
              </a:rPr>
              <a:t>gradient = 0</a:t>
            </a:r>
            <a:endParaRPr lang="ru-RU" sz="2800" dirty="0">
              <a:solidFill>
                <a:schemeClr val="bg1"/>
              </a:solidFill>
              <a:effectLst/>
              <a:latin typeface="+mj-lt"/>
            </a:endParaRPr>
          </a:p>
          <a:p>
            <a:pPr algn="just"/>
            <a:endParaRPr lang="ru-RU" sz="2800" dirty="0">
              <a:solidFill>
                <a:schemeClr val="bg1"/>
              </a:solidFill>
              <a:effectLst/>
              <a:latin typeface="+mj-lt"/>
            </a:endParaRPr>
          </a:p>
          <a:p>
            <a:pPr algn="just"/>
            <a:r>
              <a:rPr lang="ru-RU" sz="2800" dirty="0">
                <a:solidFill>
                  <a:schemeClr val="bg1"/>
                </a:solidFill>
                <a:latin typeface="+mj-lt"/>
              </a:rPr>
              <a:t>И обновление веса:</a:t>
            </a:r>
          </a:p>
          <a:p>
            <a:pPr algn="just"/>
            <a:r>
              <a:rPr lang="de-DE" sz="2800" dirty="0" err="1">
                <a:solidFill>
                  <a:schemeClr val="bg1"/>
                </a:solidFill>
                <a:effectLst/>
                <a:latin typeface="+mj-lt"/>
              </a:rPr>
              <a:t>weight</a:t>
            </a:r>
            <a:r>
              <a:rPr lang="de-DE" sz="2800" dirty="0">
                <a:solidFill>
                  <a:schemeClr val="bg1"/>
                </a:solidFill>
                <a:effectLst/>
                <a:latin typeface="+mj-lt"/>
              </a:rPr>
              <a:t> = </a:t>
            </a:r>
            <a:r>
              <a:rPr lang="de-DE" sz="2800" dirty="0" err="1">
                <a:solidFill>
                  <a:schemeClr val="bg1"/>
                </a:solidFill>
                <a:effectLst/>
                <a:latin typeface="+mj-lt"/>
              </a:rPr>
              <a:t>weight</a:t>
            </a:r>
            <a:r>
              <a:rPr lang="de-DE" sz="2800" dirty="0">
                <a:solidFill>
                  <a:schemeClr val="bg1"/>
                </a:solidFill>
                <a:effectLst/>
                <a:latin typeface="+mj-lt"/>
              </a:rPr>
              <a:t> – 0</a:t>
            </a:r>
            <a:endParaRPr lang="ru-RU" sz="2800" dirty="0">
              <a:solidFill>
                <a:schemeClr val="bg1"/>
              </a:solidFill>
              <a:effectLst/>
              <a:latin typeface="+mj-lt"/>
            </a:endParaRPr>
          </a:p>
          <a:p>
            <a:r>
              <a:rPr lang="ru-RU" sz="2800" dirty="0">
                <a:solidFill>
                  <a:schemeClr val="bg1"/>
                </a:solidFill>
                <a:latin typeface="+mj-lt"/>
              </a:rPr>
              <a:t>Вес перестаёт меняться.</a:t>
            </a:r>
          </a:p>
          <a:p>
            <a:r>
              <a:rPr lang="ru-RU" sz="2800" dirty="0">
                <a:solidFill>
                  <a:schemeClr val="bg1"/>
                </a:solidFill>
                <a:latin typeface="+mj-lt"/>
              </a:rPr>
              <a:t>Обучение автоматически останавливается.</a:t>
            </a:r>
          </a:p>
          <a:p>
            <a:pPr algn="just"/>
            <a:endParaRPr lang="ru-RU" sz="2800" dirty="0">
              <a:solidFill>
                <a:schemeClr val="bg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764642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705492" y="330403"/>
            <a:ext cx="59446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Всё в одной строке</a:t>
            </a:r>
            <a:endParaRPr lang="ru-RU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CB2A4C-0964-68F5-75E3-8DFAC52581C6}"/>
              </a:ext>
            </a:extLst>
          </p:cNvPr>
          <p:cNvSpPr txBox="1"/>
          <p:nvPr/>
        </p:nvSpPr>
        <p:spPr>
          <a:xfrm>
            <a:off x="588442" y="1573752"/>
            <a:ext cx="128532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 err="1"/>
              <a:t>gradient</a:t>
            </a:r>
            <a:r>
              <a:rPr lang="de-DE" sz="2800" dirty="0"/>
              <a:t> = (</a:t>
            </a:r>
            <a:r>
              <a:rPr lang="de-DE" sz="2800" dirty="0" err="1"/>
              <a:t>pred</a:t>
            </a:r>
            <a:r>
              <a:rPr lang="de-DE" sz="2800" dirty="0"/>
              <a:t> - </a:t>
            </a:r>
            <a:r>
              <a:rPr lang="de-DE" sz="2800" dirty="0" err="1"/>
              <a:t>goal</a:t>
            </a:r>
            <a:r>
              <a:rPr lang="de-DE" sz="2800" dirty="0"/>
              <a:t>) * </a:t>
            </a:r>
            <a:r>
              <a:rPr lang="de-DE" sz="2800" dirty="0" err="1"/>
              <a:t>input</a:t>
            </a:r>
            <a:endParaRPr lang="ru-RU" sz="2800" dirty="0"/>
          </a:p>
          <a:p>
            <a:endParaRPr lang="ru-RU" sz="2800" dirty="0"/>
          </a:p>
          <a:p>
            <a:endParaRPr lang="ru-RU" sz="2800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85EB9F25-9073-EC58-E2F8-73DB10012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441366"/>
              </p:ext>
            </p:extLst>
          </p:nvPr>
        </p:nvGraphicFramePr>
        <p:xfrm>
          <a:off x="2900261" y="3199654"/>
          <a:ext cx="8229600" cy="20116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204630794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712279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Часть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что делает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391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/>
                        <a:t>(pred - goal)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выбирает направление (обращение знака)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852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/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/>
                        <a:t>определяет размер шага (масштабирование)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61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e-DE"/>
                        <a:t>pred = 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обучение останавливается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27730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58A5F25A-55C4-BCA7-7199-BBFE016FA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27" y="2116604"/>
            <a:ext cx="60569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делает сразу три вещи: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56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768774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Сломанные градиентный спуск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BC596-FBD8-97DD-BA0D-10095D714FDB}"/>
              </a:ext>
            </a:extLst>
          </p:cNvPr>
          <p:cNvSpPr txBox="1"/>
          <p:nvPr/>
        </p:nvSpPr>
        <p:spPr>
          <a:xfrm rot="1123665">
            <a:off x="10903291" y="1093184"/>
            <a:ext cx="3349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Result too large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EF13E-1348-A107-CAB6-C1C6A4588BF2}"/>
              </a:ext>
            </a:extLst>
          </p:cNvPr>
          <p:cNvSpPr txBox="1"/>
          <p:nvPr/>
        </p:nvSpPr>
        <p:spPr>
          <a:xfrm>
            <a:off x="625737" y="1256632"/>
            <a:ext cx="1285323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Error:6.67087267987e+14 Prediction:-25828031.8</a:t>
            </a:r>
          </a:p>
          <a:p>
            <a:pPr algn="just"/>
            <a:r>
              <a:rPr lang="es-ES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Error:6.00378541188e+15 Prediction:77484098.6</a:t>
            </a:r>
          </a:p>
          <a:p>
            <a:pPr algn="just"/>
            <a:r>
              <a:rPr lang="es-ES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Error:5.40340687069e+16 Prediction:-232452292.6</a:t>
            </a:r>
            <a:endParaRPr lang="ru-RU" sz="28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algn="just"/>
            <a:endParaRPr lang="ru-RU" sz="2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endParaRPr lang="ru-RU" sz="28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Результаты прыгают из отрицательных значений в положительные и из положительных в отрицательные, все дальше уходя от истины. Иначе говоря, происходит все более избыточная коррекция веса.</a:t>
            </a:r>
          </a:p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Что же случилось на самом деле? Взрывное расхождение оценки ошибки вызвано увеличением входного значения. Посмотрим, как происходит изменение веса в этом случае:</a:t>
            </a:r>
          </a:p>
          <a:p>
            <a:pPr algn="ctr"/>
            <a:r>
              <a:rPr lang="en-US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weight = weight - (input * (pred - </a:t>
            </a:r>
            <a:r>
              <a:rPr lang="en-US" sz="28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goal_pred</a:t>
            </a:r>
            <a:r>
              <a:rPr lang="en-US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11690681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705491" y="330403"/>
            <a:ext cx="11408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Избыточная коррекция</a:t>
            </a:r>
            <a:endParaRPr lang="ru-RU" sz="4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FF7EB-3CCB-A00B-4578-2EABF116CB64}"/>
              </a:ext>
            </a:extLst>
          </p:cNvPr>
          <p:cNvSpPr txBox="1"/>
          <p:nvPr/>
        </p:nvSpPr>
        <p:spPr>
          <a:xfrm>
            <a:off x="625737" y="1256632"/>
            <a:ext cx="1285323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weight = weight - (input * (pred - </a:t>
            </a:r>
            <a:r>
              <a:rPr lang="en-US" sz="2800" dirty="0" err="1"/>
              <a:t>goal_pred</a:t>
            </a:r>
            <a:r>
              <a:rPr lang="en-US" sz="2800" dirty="0"/>
              <a:t>)</a:t>
            </a:r>
            <a:endParaRPr lang="ru-RU" sz="2800" b="1" dirty="0"/>
          </a:p>
          <a:p>
            <a:pPr algn="just"/>
            <a:endParaRPr lang="ru-RU" sz="2800" b="0" dirty="0">
              <a:effectLst/>
              <a:latin typeface="Consolas" panose="020B0609020204030204" pitchFamily="49" charset="0"/>
            </a:endParaRPr>
          </a:p>
          <a:p>
            <a:pPr algn="just"/>
            <a:r>
              <a:rPr lang="ru-RU" sz="2800" b="0" dirty="0">
                <a:effectLst/>
                <a:latin typeface="Consolas" panose="020B0609020204030204" pitchFamily="49" charset="0"/>
              </a:rPr>
              <a:t>Если входное значение достаточно велико, это может вызвать значительное увеличение веса даже при маленьком значении ошибки. Что происходит, когда вес изменяется на значительную величину при маленьком значении ошибки? А происходит избыточная коррекция веса в сети. Если новая ошибка станет больше, коррекция окажется еще более избыточной. 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727717A-92A1-FA81-7C74-B72B3DA50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110" y="4496430"/>
            <a:ext cx="5342082" cy="321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93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508344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Альфа-коэффициент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EF13E-1348-A107-CAB6-C1C6A4588BF2}"/>
              </a:ext>
            </a:extLst>
          </p:cNvPr>
          <p:cNvSpPr txBox="1"/>
          <p:nvPr/>
        </p:nvSpPr>
        <p:spPr>
          <a:xfrm>
            <a:off x="625737" y="1256632"/>
            <a:ext cx="1285323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Это самый простой способ предотвратить избыточную коррекцию весов.</a:t>
            </a:r>
          </a:p>
          <a:p>
            <a:pPr algn="just"/>
            <a:r>
              <a:rPr lang="ru-RU" sz="28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В чем выражается проблема, которую мы пытаемся решить? При большом входном значении может происходить избыточная коррекция весов. Как это проявляется? Величина производной в новой точке будет превосходить величину прежней производной (хотя и с другим знаком).</a:t>
            </a:r>
            <a:endParaRPr lang="en-US" sz="28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524495-68B2-FBFA-1287-176D1A66D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315" y="4365175"/>
            <a:ext cx="5342082" cy="32137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147323-93E9-E585-4ED2-366C579BF367}"/>
              </a:ext>
            </a:extLst>
          </p:cNvPr>
          <p:cNvSpPr txBox="1"/>
          <p:nvPr/>
        </p:nvSpPr>
        <p:spPr>
          <a:xfrm>
            <a:off x="477158" y="5127310"/>
            <a:ext cx="3392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Выполнив шаг 2, мы оказываемся от цели дальше, чем были, а это означает, что абсолютная величина производной увеличилась.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A8FC3-84AB-A81D-419A-B77053228A93}"/>
              </a:ext>
            </a:extLst>
          </p:cNvPr>
          <p:cNvSpPr txBox="1"/>
          <p:nvPr/>
        </p:nvSpPr>
        <p:spPr>
          <a:xfrm>
            <a:off x="10086935" y="5127310"/>
            <a:ext cx="33920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В</a:t>
            </a:r>
            <a:r>
              <a:rPr lang="ru-RU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ыполнив шаг 3, мы оказываемся еще дальше от</a:t>
            </a:r>
          </a:p>
          <a:p>
            <a:pPr algn="just"/>
            <a:r>
              <a:rPr lang="ru-RU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цели, чем даже на шаге 2, и нейронная сеть продолжает отклоняться все больше и больше, демонстрируя расхождение.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3023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705491" y="330403"/>
            <a:ext cx="11408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Альфа-коэффициент</a:t>
            </a:r>
            <a:r>
              <a:rPr lang="en-US" sz="4400" dirty="0"/>
              <a:t> (</a:t>
            </a:r>
            <a:r>
              <a:rPr lang="ru-RU" sz="4400" dirty="0"/>
              <a:t>или скорость обучения)</a:t>
            </a:r>
            <a:endParaRPr lang="ru-RU" sz="4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FF7EB-3CCB-A00B-4578-2EABF116CB64}"/>
              </a:ext>
            </a:extLst>
          </p:cNvPr>
          <p:cNvSpPr txBox="1"/>
          <p:nvPr/>
        </p:nvSpPr>
        <p:spPr>
          <a:xfrm>
            <a:off x="625737" y="1354793"/>
            <a:ext cx="1285323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Решение проблемы заключается в том, чтобы умножить величину изменения веса на некоторый коэффициент, чтобы сделать ее меньше. В большинстве случаев достаточно умножить величину изменения веса на одно вещественное число в диапазоне от 0 до 1. Часто это число называют альфа-коэффициентом.</a:t>
            </a:r>
          </a:p>
          <a:p>
            <a:pPr algn="ctr"/>
            <a:endParaRPr lang="ru-RU" sz="2800" b="0" dirty="0">
              <a:effectLst/>
              <a:latin typeface="Consolas" panose="020B0609020204030204" pitchFamily="49" charset="0"/>
            </a:endParaRPr>
          </a:p>
          <a:p>
            <a:pPr algn="ctr"/>
            <a:endParaRPr lang="ru-RU" sz="2800" dirty="0">
              <a:latin typeface="Consolas" panose="020B0609020204030204" pitchFamily="49" charset="0"/>
            </a:endParaRPr>
          </a:p>
          <a:p>
            <a:pPr algn="ctr"/>
            <a:r>
              <a:rPr lang="ru-RU" sz="2800" b="0" dirty="0">
                <a:effectLst/>
                <a:latin typeface="Consolas" panose="020B0609020204030204" pitchFamily="49" charset="0"/>
              </a:rPr>
              <a:t>Выбор соответствующего альфа-коэффициента, даже для современных нейронных сетей, часто производится наугад. Вы смотрите, как изменяется ошибка с каждой итерацией, и если начинает наблюдаться расхождение, значит, альфа-коэффициент слишком велик и его следует уменьшить. Если обучение происходит слишком медленно, значит, альфа-коэффициент слишком мал и его следует увеличить.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2923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245355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Куда его?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DEF13E-1348-A107-CAB6-C1C6A4588BF2}"/>
              </a:ext>
            </a:extLst>
          </p:cNvPr>
          <p:cNvSpPr txBox="1"/>
          <p:nvPr/>
        </p:nvSpPr>
        <p:spPr>
          <a:xfrm>
            <a:off x="541114" y="1214289"/>
            <a:ext cx="75449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epoch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epochs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total_error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prices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prices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sales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neural_network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total_error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error</a:t>
            </a: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direction_and_amount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pred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price</a:t>
            </a:r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weight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alpha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direction_and_amount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69A3A-A82E-55AF-D5B5-0E7E954B3D1B}"/>
              </a:ext>
            </a:extLst>
          </p:cNvPr>
          <p:cNvSpPr txBox="1"/>
          <p:nvPr/>
        </p:nvSpPr>
        <p:spPr>
          <a:xfrm>
            <a:off x="541114" y="4540201"/>
            <a:ext cx="60380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Теперь шаг маленький:</a:t>
            </a:r>
          </a:p>
          <a:p>
            <a:r>
              <a:rPr lang="en-US" dirty="0">
                <a:solidFill>
                  <a:schemeClr val="bg1"/>
                </a:solidFill>
              </a:rPr>
              <a:t>weight = weight - alpha * gradient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Если </a:t>
            </a:r>
            <a:r>
              <a:rPr lang="en-US" dirty="0">
                <a:solidFill>
                  <a:schemeClr val="bg1"/>
                </a:solidFill>
              </a:rPr>
              <a:t>gradient = -1012</a:t>
            </a:r>
            <a:r>
              <a:rPr lang="ru-RU" dirty="0">
                <a:solidFill>
                  <a:schemeClr val="bg1"/>
                </a:solidFill>
              </a:rPr>
              <a:t> и </a:t>
            </a:r>
            <a:r>
              <a:rPr lang="en-US" dirty="0">
                <a:solidFill>
                  <a:schemeClr val="bg1"/>
                </a:solidFill>
              </a:rPr>
              <a:t>alpha = 0.0001</a:t>
            </a:r>
            <a:r>
              <a:rPr lang="ru-RU" dirty="0">
                <a:solidFill>
                  <a:schemeClr val="bg1"/>
                </a:solidFill>
              </a:rPr>
              <a:t>. То </a:t>
            </a:r>
            <a:r>
              <a:rPr lang="en-US" dirty="0">
                <a:solidFill>
                  <a:schemeClr val="bg1"/>
                </a:solidFill>
              </a:rPr>
              <a:t>weight = -0.1012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Вес меняется плавно, а не прыгает на тысячи.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D15312-47C6-35F3-DB42-A2C378226C51}"/>
              </a:ext>
            </a:extLst>
          </p:cNvPr>
          <p:cNvSpPr txBox="1"/>
          <p:nvPr/>
        </p:nvSpPr>
        <p:spPr>
          <a:xfrm rot="1578714">
            <a:off x="10509554" y="1271366"/>
            <a:ext cx="38389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Градиент показывает направление.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 err="1">
                <a:solidFill>
                  <a:schemeClr val="bg1"/>
                </a:solidFill>
              </a:rPr>
              <a:t>alpha</a:t>
            </a:r>
            <a:r>
              <a:rPr lang="ru-RU" dirty="0">
                <a:solidFill>
                  <a:schemeClr val="bg1"/>
                </a:solidFill>
              </a:rPr>
              <a:t> показывает размер шага.</a:t>
            </a:r>
          </a:p>
        </p:txBody>
      </p:sp>
    </p:spTree>
    <p:extLst>
      <p:ext uri="{BB962C8B-B14F-4D97-AF65-F5344CB8AC3E}">
        <p14:creationId xmlns:p14="http://schemas.microsoft.com/office/powerpoint/2010/main" val="6915184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94DDE-3021-A7B8-613F-8CDEE0F3BF48}"/>
              </a:ext>
            </a:extLst>
          </p:cNvPr>
          <p:cNvSpPr txBox="1"/>
          <p:nvPr/>
        </p:nvSpPr>
        <p:spPr>
          <a:xfrm>
            <a:off x="442912" y="281672"/>
            <a:ext cx="13139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Пробуем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EB8301-CC7D-A7A3-15C3-810BE0BC42DA}"/>
              </a:ext>
            </a:extLst>
          </p:cNvPr>
          <p:cNvSpPr txBox="1"/>
          <p:nvPr/>
        </p:nvSpPr>
        <p:spPr>
          <a:xfrm>
            <a:off x="541114" y="1887685"/>
            <a:ext cx="74693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Добавим в код </a:t>
            </a:r>
            <a:r>
              <a:rPr lang="en-US" sz="2800" dirty="0">
                <a:solidFill>
                  <a:schemeClr val="bg1"/>
                </a:solidFill>
              </a:rPr>
              <a:t>alpha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bias</a:t>
            </a:r>
            <a:r>
              <a:rPr lang="ru-RU" sz="2800" dirty="0">
                <a:solidFill>
                  <a:schemeClr val="bg1"/>
                </a:solidFill>
              </a:rPr>
              <a:t> (если его нет)</a:t>
            </a:r>
          </a:p>
          <a:p>
            <a:r>
              <a:rPr lang="ru-RU" sz="2800" dirty="0">
                <a:solidFill>
                  <a:schemeClr val="bg1"/>
                </a:solidFill>
              </a:rPr>
              <a:t>Сделаем на несколько нейронов</a:t>
            </a:r>
          </a:p>
        </p:txBody>
      </p:sp>
    </p:spTree>
    <p:extLst>
      <p:ext uri="{BB962C8B-B14F-4D97-AF65-F5344CB8AC3E}">
        <p14:creationId xmlns:p14="http://schemas.microsoft.com/office/powerpoint/2010/main" val="39565132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504375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Задача о светофоре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69A3A-A82E-55AF-D5B5-0E7E954B3D1B}"/>
              </a:ext>
            </a:extLst>
          </p:cNvPr>
          <p:cNvSpPr txBox="1"/>
          <p:nvPr/>
        </p:nvSpPr>
        <p:spPr>
          <a:xfrm>
            <a:off x="345088" y="1059370"/>
            <a:ext cx="102200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Представьте, что вы идете по улице в незнакомой стране. Подойдя к перекрестку, поднимаете глаза и видите светофор незнакомого устройства. Как узнать, по какому сигналу можно безопасно пересечь проезжую часть?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D15312-47C6-35F3-DB42-A2C378226C51}"/>
              </a:ext>
            </a:extLst>
          </p:cNvPr>
          <p:cNvSpPr txBox="1"/>
          <p:nvPr/>
        </p:nvSpPr>
        <p:spPr>
          <a:xfrm rot="1578714">
            <a:off x="10509554" y="1132867"/>
            <a:ext cx="38389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>
                <a:solidFill>
                  <a:schemeClr val="bg1"/>
                </a:solidFill>
              </a:rPr>
              <a:t>Программируя на </a:t>
            </a:r>
            <a:r>
              <a:rPr lang="ru-RU" i="1" dirty="0" err="1">
                <a:solidFill>
                  <a:schemeClr val="bg1"/>
                </a:solidFill>
              </a:rPr>
              <a:t>Ардуино</a:t>
            </a:r>
            <a:r>
              <a:rPr lang="ru-RU" i="1" dirty="0">
                <a:solidFill>
                  <a:schemeClr val="bg1"/>
                </a:solidFill>
              </a:rPr>
              <a:t> я понял, что большинство детей не знает как работает светофор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C797F51-BC55-E90A-7A6F-8B14E2DD0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699" y="2712198"/>
            <a:ext cx="6591300" cy="1943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01884E-EB19-1A5D-AFC5-20308679A8FD}"/>
              </a:ext>
            </a:extLst>
          </p:cNvPr>
          <p:cNvSpPr txBox="1"/>
          <p:nvPr/>
        </p:nvSpPr>
        <p:spPr>
          <a:xfrm>
            <a:off x="2100853" y="4951784"/>
            <a:ext cx="96729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Чтобы разобраться, когда безопасно пересечь улицу, нужно понимать значение огней светофора. Но в данном случае это неизвестно. Какая комбинация огней разрешает переход? Какая требует остановиться? Чтобы решить эту задачу, можно постоять перед перекрестком несколько минут и понаблюдать за комбинациями огней и за тем, как ведут себя окружающие — идут или стоят. </a:t>
            </a:r>
          </a:p>
        </p:txBody>
      </p:sp>
    </p:spTree>
    <p:extLst>
      <p:ext uri="{BB962C8B-B14F-4D97-AF65-F5344CB8AC3E}">
        <p14:creationId xmlns:p14="http://schemas.microsoft.com/office/powerpoint/2010/main" val="7507748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705491" y="330403"/>
            <a:ext cx="11408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Первая комбинация</a:t>
            </a:r>
            <a:endParaRPr lang="ru-RU" sz="4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FF7EB-3CCB-A00B-4578-2EABF116CB64}"/>
              </a:ext>
            </a:extLst>
          </p:cNvPr>
          <p:cNvSpPr txBox="1"/>
          <p:nvPr/>
        </p:nvSpPr>
        <p:spPr>
          <a:xfrm>
            <a:off x="315899" y="2465066"/>
            <a:ext cx="1285323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При этой комбинации никто не переходит улицу. В этот момент у вас рождается</a:t>
            </a:r>
          </a:p>
          <a:p>
            <a:pPr algn="ctr"/>
            <a:r>
              <a:rPr lang="ru-RU" sz="2800" dirty="0"/>
              <a:t>мысль: «Схема работы светофора не так проста. Включение левой или правой</a:t>
            </a:r>
          </a:p>
          <a:p>
            <a:pPr algn="ctr"/>
            <a:r>
              <a:rPr lang="ru-RU" sz="2800" dirty="0"/>
              <a:t>секции может означать требование остановиться, а включение средней — раз</a:t>
            </a:r>
          </a:p>
          <a:p>
            <a:pPr algn="ctr"/>
            <a:r>
              <a:rPr lang="ru-RU" sz="2800" dirty="0"/>
              <a:t>решать движение». Но пока вы не можете знать этого наверняка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AB76DD-B37D-CEFF-E5AC-80A65C31D8E5}"/>
              </a:ext>
            </a:extLst>
          </p:cNvPr>
          <p:cNvSpPr txBox="1"/>
          <p:nvPr/>
        </p:nvSpPr>
        <p:spPr>
          <a:xfrm>
            <a:off x="11947221" y="3876590"/>
            <a:ext cx="30635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/>
              <a:t>Я опаздываю на работу. </a:t>
            </a:r>
          </a:p>
          <a:p>
            <a:pPr algn="ctr"/>
            <a:r>
              <a:rPr lang="ru-RU" sz="1400" dirty="0"/>
              <a:t>Тем временем каждый встретившийся мне светофор</a:t>
            </a:r>
            <a:endParaRPr lang="en-US" sz="14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Рисунок 7" descr="Изображение выглядит как свет, светофор, транспорт, Сигнальное устройство&#10;&#10;Автоматически созданное описание">
            <a:extLst>
              <a:ext uri="{FF2B5EF4-FFF2-40B4-BE49-F238E27FC236}">
                <a16:creationId xmlns:a16="http://schemas.microsoft.com/office/drawing/2014/main" id="{8E74D08C-4586-12B3-3449-6A8A8AB6B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7995" y="4710037"/>
            <a:ext cx="1161959" cy="294581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3B8DD2C-5681-0A7E-2188-CEAA43AF6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087" y="1178685"/>
            <a:ext cx="484822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351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509389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Вторая комбинация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01884E-EB19-1A5D-AFC5-20308679A8FD}"/>
              </a:ext>
            </a:extLst>
          </p:cNvPr>
          <p:cNvSpPr txBox="1"/>
          <p:nvPr/>
        </p:nvSpPr>
        <p:spPr>
          <a:xfrm>
            <a:off x="2418249" y="3492555"/>
            <a:ext cx="96729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После включения этой комбинации огней люди пошли. Единственное, в чем вы теперь уверены, что правая секция, похоже, ничего не запрещает и ничего не разрешает. Возможно, она вообще не имеет никакого значения.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B4F4DF-715A-C9DA-1537-0F72B3C72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531" y="1556131"/>
            <a:ext cx="4924425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447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705491" y="330403"/>
            <a:ext cx="11408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Третья комбинация</a:t>
            </a:r>
            <a:endParaRPr lang="ru-RU" sz="4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FF7EB-3CCB-A00B-4578-2EABF116CB64}"/>
              </a:ext>
            </a:extLst>
          </p:cNvPr>
          <p:cNvSpPr txBox="1"/>
          <p:nvPr/>
        </p:nvSpPr>
        <p:spPr>
          <a:xfrm>
            <a:off x="888581" y="2613578"/>
            <a:ext cx="128532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Еще одна комбинация. На этот раз изменилась только средняя секция, и вы</a:t>
            </a:r>
          </a:p>
          <a:p>
            <a:pPr algn="ctr"/>
            <a:r>
              <a:rPr lang="ru-RU" sz="2800" dirty="0"/>
              <a:t>отметили противоположное поведение. У вас появляется рабочая гипотеза,</a:t>
            </a:r>
          </a:p>
          <a:p>
            <a:pPr algn="ctr"/>
            <a:r>
              <a:rPr lang="ru-RU" sz="2800" dirty="0"/>
              <a:t>что средняя секция указывает, когда безопасно перейти перекресток. 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F1545D-8D9B-B8CC-7756-487356D3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360" y="1035191"/>
            <a:ext cx="486727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16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397576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Общий шаблон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6152C1-F201-F538-8B20-D9BCBF261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171" y="979186"/>
            <a:ext cx="5572125" cy="6724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923EBE-36DF-8C68-8BE4-095ED6D75139}"/>
              </a:ext>
            </a:extLst>
          </p:cNvPr>
          <p:cNvSpPr txBox="1"/>
          <p:nvPr/>
        </p:nvSpPr>
        <p:spPr>
          <a:xfrm>
            <a:off x="10028172" y="3627443"/>
            <a:ext cx="42319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Между средней секцией и возможностью безопасно пересечь перекресток имеется идеальная корреляция.</a:t>
            </a:r>
          </a:p>
        </p:txBody>
      </p:sp>
    </p:spTree>
    <p:extLst>
      <p:ext uri="{BB962C8B-B14F-4D97-AF65-F5344CB8AC3E}">
        <p14:creationId xmlns:p14="http://schemas.microsoft.com/office/powerpoint/2010/main" val="25832996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705491" y="330403"/>
            <a:ext cx="11408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Подготовка данных</a:t>
            </a:r>
            <a:endParaRPr lang="ru-RU" sz="4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5FF7EB-3CCB-A00B-4578-2EABF116CB64}"/>
              </a:ext>
            </a:extLst>
          </p:cNvPr>
          <p:cNvSpPr txBox="1"/>
          <p:nvPr/>
        </p:nvSpPr>
        <p:spPr>
          <a:xfrm>
            <a:off x="705491" y="1487582"/>
            <a:ext cx="123077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Нейронные сети не умеют распознавать сигналы светофора.</a:t>
            </a:r>
          </a:p>
          <a:p>
            <a:pPr algn="ctr"/>
            <a:r>
              <a:rPr lang="ru-RU" sz="2800" dirty="0">
                <a:latin typeface="Consolas" panose="020B0609020204030204" pitchFamily="49" charset="0"/>
              </a:rPr>
              <a:t>О</a:t>
            </a:r>
            <a:r>
              <a:rPr lang="ru-RU" sz="2800" b="0" dirty="0">
                <a:effectLst/>
                <a:latin typeface="Consolas" panose="020B0609020204030204" pitchFamily="49" charset="0"/>
              </a:rPr>
              <a:t>ни могут принимать набор данных, представляющий</a:t>
            </a:r>
            <a:r>
              <a:rPr lang="ru-RU" sz="2800" dirty="0">
                <a:latin typeface="Consolas" panose="020B0609020204030204" pitchFamily="49" charset="0"/>
              </a:rPr>
              <a:t> </a:t>
            </a:r>
            <a:r>
              <a:rPr lang="ru-RU" sz="2800" b="0" dirty="0">
                <a:effectLst/>
                <a:latin typeface="Consolas" panose="020B0609020204030204" pitchFamily="49" charset="0"/>
              </a:rPr>
              <a:t>то, что вы знаете, и превращать его в набор данных, представляющий то, что вы хотели бы знать (обучение с учителем).</a:t>
            </a:r>
          </a:p>
          <a:p>
            <a:pPr algn="ctr"/>
            <a:endParaRPr lang="ru-RU" sz="2800" dirty="0">
              <a:latin typeface="Consolas" panose="020B0609020204030204" pitchFamily="49" charset="0"/>
            </a:endParaRPr>
          </a:p>
          <a:p>
            <a:pPr algn="ctr"/>
            <a:r>
              <a:rPr lang="ru-RU" sz="2800" dirty="0">
                <a:latin typeface="Consolas" panose="020B0609020204030204" pitchFamily="49" charset="0"/>
              </a:rPr>
              <a:t>Что мы знаем? Сигналы светофора</a:t>
            </a:r>
          </a:p>
          <a:p>
            <a:pPr algn="ctr"/>
            <a:r>
              <a:rPr lang="ru-RU" sz="2800" b="0" dirty="0">
                <a:effectLst/>
                <a:latin typeface="Consolas" panose="020B0609020204030204" pitchFamily="49" charset="0"/>
              </a:rPr>
              <a:t>Что мы хотим знать? Идти нам или стоять.</a:t>
            </a:r>
          </a:p>
          <a:p>
            <a:pPr algn="ctr"/>
            <a:endParaRPr lang="ru-RU" sz="2800" dirty="0">
              <a:latin typeface="Consolas" panose="020B0609020204030204" pitchFamily="49" charset="0"/>
            </a:endParaRPr>
          </a:p>
          <a:p>
            <a:pPr algn="ctr"/>
            <a:r>
              <a:rPr lang="ru-RU" sz="2800" b="0" dirty="0">
                <a:effectLst/>
                <a:latin typeface="Consolas" panose="020B0609020204030204" pitchFamily="49" charset="0"/>
              </a:rPr>
              <a:t>Как будет выглядеть числовой шаблон?</a:t>
            </a:r>
            <a:endParaRPr lang="en-US" sz="28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9470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251190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Матрицы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23EBE-36DF-8C68-8BE4-095ED6D75139}"/>
              </a:ext>
            </a:extLst>
          </p:cNvPr>
          <p:cNvSpPr txBox="1"/>
          <p:nvPr/>
        </p:nvSpPr>
        <p:spPr>
          <a:xfrm>
            <a:off x="2259550" y="1526590"/>
            <a:ext cx="65746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streetlights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walk_vs_stop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U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E6C657-79F9-2D8C-1671-8A06372BA150}"/>
              </a:ext>
            </a:extLst>
          </p:cNvPr>
          <p:cNvSpPr txBox="1"/>
          <p:nvPr/>
        </p:nvSpPr>
        <p:spPr>
          <a:xfrm>
            <a:off x="1624760" y="4702256"/>
            <a:ext cx="7360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Чего мы хотим от нейронной сети? Чтобы она взяла матрицу </a:t>
            </a:r>
            <a:r>
              <a:rPr lang="ru-RU" dirty="0" err="1">
                <a:solidFill>
                  <a:schemeClr val="bg1"/>
                </a:solidFill>
              </a:rPr>
              <a:t>streetlights</a:t>
            </a:r>
            <a:endParaRPr lang="ru-RU" dirty="0">
              <a:solidFill>
                <a:schemeClr val="bg1"/>
              </a:solidFill>
            </a:endParaRPr>
          </a:p>
          <a:p>
            <a:pPr algn="ctr"/>
            <a:r>
              <a:rPr lang="ru-RU" dirty="0">
                <a:solidFill>
                  <a:schemeClr val="bg1"/>
                </a:solidFill>
              </a:rPr>
              <a:t>и научилась преобразовывать ее в матрицу </a:t>
            </a:r>
            <a:r>
              <a:rPr lang="ru-RU" dirty="0" err="1">
                <a:solidFill>
                  <a:schemeClr val="bg1"/>
                </a:solidFill>
              </a:rPr>
              <a:t>walk_vs_stop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27499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94DDE-3021-A7B8-613F-8CDEE0F3BF48}"/>
              </a:ext>
            </a:extLst>
          </p:cNvPr>
          <p:cNvSpPr txBox="1"/>
          <p:nvPr/>
        </p:nvSpPr>
        <p:spPr>
          <a:xfrm>
            <a:off x="442912" y="281672"/>
            <a:ext cx="131397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Пробуем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EB8301-CC7D-A7A3-15C3-810BE0BC42DA}"/>
              </a:ext>
            </a:extLst>
          </p:cNvPr>
          <p:cNvSpPr txBox="1"/>
          <p:nvPr/>
        </p:nvSpPr>
        <p:spPr>
          <a:xfrm>
            <a:off x="442912" y="1051113"/>
            <a:ext cx="115198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Мини-нейросеть для распознавания цифр 0-9.</a:t>
            </a:r>
          </a:p>
          <a:p>
            <a:r>
              <a:rPr lang="ru-RU" sz="2800" dirty="0">
                <a:solidFill>
                  <a:schemeClr val="bg1"/>
                </a:solidFill>
              </a:rPr>
              <a:t>Каждая цифра — это </a:t>
            </a:r>
            <a:r>
              <a:rPr lang="ru-RU" sz="2800" b="1" dirty="0">
                <a:solidFill>
                  <a:schemeClr val="bg1"/>
                </a:solidFill>
              </a:rPr>
              <a:t>матрица 3×5</a:t>
            </a:r>
            <a:r>
              <a:rPr lang="ru-RU" sz="2800" dirty="0">
                <a:solidFill>
                  <a:schemeClr val="bg1"/>
                </a:solidFill>
              </a:rPr>
              <a:t>, превращённая в вектор из 15 чисел.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BFD941-660F-A48E-BEE1-C383EFB976F2}"/>
              </a:ext>
            </a:extLst>
          </p:cNvPr>
          <p:cNvSpPr txBox="1"/>
          <p:nvPr/>
        </p:nvSpPr>
        <p:spPr>
          <a:xfrm>
            <a:off x="528992" y="2457375"/>
            <a:ext cx="9597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[1,1,1,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1,0,1,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1,0,1,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1,0,1,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1,1,1]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85513-CCA1-7873-F3F9-1BE036F47926}"/>
              </a:ext>
            </a:extLst>
          </p:cNvPr>
          <p:cNvSpPr txBox="1"/>
          <p:nvPr/>
        </p:nvSpPr>
        <p:spPr>
          <a:xfrm>
            <a:off x="1715444" y="2457375"/>
            <a:ext cx="8312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[0,1,0,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1,1,0,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0,1,0,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0,1,0,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1,1,1]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CAF404-3C90-9D37-C1CE-A33EA80841CE}"/>
              </a:ext>
            </a:extLst>
          </p:cNvPr>
          <p:cNvSpPr txBox="1"/>
          <p:nvPr/>
        </p:nvSpPr>
        <p:spPr>
          <a:xfrm>
            <a:off x="2773427" y="2457375"/>
            <a:ext cx="9597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[1,1,1,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1,0,0,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1,1,1,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1,0,1,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 1,1,1]</a:t>
            </a:r>
          </a:p>
        </p:txBody>
      </p:sp>
    </p:spTree>
    <p:extLst>
      <p:ext uri="{BB962C8B-B14F-4D97-AF65-F5344CB8AC3E}">
        <p14:creationId xmlns:p14="http://schemas.microsoft.com/office/powerpoint/2010/main" val="23685770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705491" y="330403"/>
            <a:ext cx="11408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Стохастический градиентный спуск</a:t>
            </a:r>
            <a:endParaRPr lang="ru-RU" sz="4400"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D24E36D-4C55-717C-087C-00BED5476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89410"/>
              </p:ext>
            </p:extLst>
          </p:nvPr>
        </p:nvGraphicFramePr>
        <p:xfrm>
          <a:off x="2438400" y="1732658"/>
          <a:ext cx="9753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3815395467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348908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Consolas" panose="020B0609020204030204" pitchFamily="49" charset="0"/>
                      </a:endParaRPr>
                    </a:p>
                    <a:p>
                      <a:pPr algn="ctr"/>
                      <a:r>
                        <a:rPr lang="ru-RU" dirty="0"/>
                        <a:t>Градиентный спуск</a:t>
                      </a:r>
                    </a:p>
                    <a:p>
                      <a:pPr algn="ctr"/>
                      <a:endParaRPr lang="ru-RU" dirty="0"/>
                    </a:p>
                    <a:p>
                      <a:pPr algn="ctr"/>
                      <a:endParaRPr lang="ru-RU" dirty="0"/>
                    </a:p>
                    <a:p>
                      <a:pPr algn="just"/>
                      <a:r>
                        <a:rPr lang="ru-RU" dirty="0"/>
                        <a:t>Представь, что ты стоишь в горах в густом тумане и хочешь спуститься в долину. Ты не видишь куда идти — но можешь потрогать землю под ногами и почувствовать, в какую сторону она наклонена. Делаешь шаг вниз по склону. Снова щупаешь. Снова шаг. Постепенно спускаешься.</a:t>
                      </a:r>
                    </a:p>
                    <a:p>
                      <a:pPr algn="just"/>
                      <a:r>
                        <a:rPr lang="ru-RU" dirty="0"/>
                        <a:t>Это и есть градиентный спуск: </a:t>
                      </a:r>
                      <a:r>
                        <a:rPr lang="ru-RU" b="1" dirty="0"/>
                        <a:t>не знаем где минимум, но знаем в какую сторону идти.</a:t>
                      </a:r>
                      <a:endParaRPr lang="ru-RU" dirty="0"/>
                    </a:p>
                    <a:p>
                      <a:pPr algn="just"/>
                      <a:r>
                        <a:rPr lang="ru-RU" dirty="0"/>
                        <a:t>В нейросети "высота" — это ошибка. "Спуститься" — значит уменьшить ошибку. "Наклон склона" — это градиент.</a:t>
                      </a:r>
                    </a:p>
                    <a:p>
                      <a:pPr algn="ctr"/>
                      <a:endParaRPr lang="en-US" sz="1800" b="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i="1" dirty="0"/>
                    </a:p>
                    <a:p>
                      <a:pPr algn="ctr"/>
                      <a:r>
                        <a:rPr lang="ru-RU" i="1" dirty="0"/>
                        <a:t>Стохастический (случайный)</a:t>
                      </a:r>
                    </a:p>
                    <a:p>
                      <a:pPr algn="ctr"/>
                      <a:r>
                        <a:rPr lang="ru-RU" i="1" dirty="0"/>
                        <a:t>градиентный спуск</a:t>
                      </a:r>
                    </a:p>
                    <a:p>
                      <a:pPr algn="ctr"/>
                      <a:endParaRPr lang="ru-RU" i="1" dirty="0"/>
                    </a:p>
                    <a:p>
                      <a:pPr algn="just"/>
                      <a:r>
                        <a:rPr lang="ru-RU" dirty="0"/>
                        <a:t>Обычный градиентный спуск считает ошибку на </a:t>
                      </a:r>
                      <a:r>
                        <a:rPr lang="ru-RU" b="1" dirty="0"/>
                        <a:t>всех</a:t>
                      </a:r>
                      <a:r>
                        <a:rPr lang="ru-RU" dirty="0"/>
                        <a:t> примерах сразу, потом делает один шаг. Представь: ты хочешь узнать, в какую сторону наклонена земля — и для этого опрашиваешь всех 1000 жителей деревни. Точно, но медленно.</a:t>
                      </a:r>
                    </a:p>
                    <a:p>
                      <a:pPr algn="just"/>
                      <a:r>
                        <a:rPr lang="ru-RU" b="1" dirty="0"/>
                        <a:t>Стохастический</a:t>
                      </a:r>
                      <a:r>
                        <a:rPr lang="ru-RU" dirty="0"/>
                        <a:t> градиентный спуск делает шаг после </a:t>
                      </a:r>
                      <a:r>
                        <a:rPr lang="ru-RU" b="1" dirty="0"/>
                        <a:t>каждого</a:t>
                      </a:r>
                      <a:r>
                        <a:rPr lang="ru-RU" dirty="0"/>
                        <a:t> примера. Опросил одного человека — уже пошёл. Быстро, но направление немного случайное, с шумом.</a:t>
                      </a: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177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074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862351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Стохастический градиентный спуск</a:t>
            </a:r>
            <a:endParaRPr lang="ru-RU" sz="4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053DBFC-4116-1C08-3F30-EFBF3A513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48715"/>
              </p:ext>
            </p:extLst>
          </p:nvPr>
        </p:nvGraphicFramePr>
        <p:xfrm>
          <a:off x="2302374" y="1526729"/>
          <a:ext cx="9753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3815395467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348908131"/>
                    </a:ext>
                  </a:extLst>
                </a:gridCol>
              </a:tblGrid>
              <a:tr h="357825">
                <a:tc>
                  <a:txBody>
                    <a:bodyPr/>
                    <a:lstStyle/>
                    <a:p>
                      <a:pPr algn="ctr"/>
                      <a:endParaRPr lang="ru-RU" sz="1800" dirty="0">
                        <a:latin typeface="Consolas" panose="020B0609020204030204" pitchFamily="49" charset="0"/>
                      </a:endParaRPr>
                    </a:p>
                    <a:p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 f(x):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return (x - 3) ** 2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 grad(x):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return 2 * (x - 3)   # </a:t>
                      </a:r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производная 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f(x)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= 0.0   # </a:t>
                      </a:r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начальная точка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lr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0.1  # </a:t>
                      </a:r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скорость обучения</a:t>
                      </a:r>
                    </a:p>
                    <a:p>
                      <a:b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</a:t>
                      </a:r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range(20):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g = grad(x)          # </a:t>
                      </a:r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градиент — точный</a:t>
                      </a:r>
                    </a:p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= x - </a:t>
                      </a:r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lr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 g       # </a:t>
                      </a:r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шаг вниз по склону</a:t>
                      </a:r>
                    </a:p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print(f"</a:t>
                      </a:r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шаг {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i+1:2d}: x = {x:.4f}, f(x) = {f(x):.4f}")</a:t>
                      </a:r>
                      <a:endParaRPr lang="en-US" sz="1800" b="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i="1" dirty="0"/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random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 f(x):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return (x - 3) ** 2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 </a:t>
                      </a:r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noisy_grad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(x):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noise = </a:t>
                      </a:r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random.uniform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(-1.5, 1.5) </a:t>
                      </a:r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return 2 * (x - 3) + noise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= 0.0</a:t>
                      </a:r>
                    </a:p>
                    <a:p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lr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0.1</a:t>
                      </a:r>
                    </a:p>
                    <a:p>
                      <a:b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</a:t>
                      </a:r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range(20):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g = </a:t>
                      </a:r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noisy_grad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(x)    # </a:t>
                      </a:r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градиент — шумный</a:t>
                      </a:r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= x - </a:t>
                      </a:r>
                      <a:r>
                        <a:rPr lang="en-US" sz="1800" b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lr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* g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print(f"</a:t>
                      </a:r>
                      <a:r>
                        <a:rPr lang="ru-RU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шаг {</a:t>
                      </a: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i+1:2d}: x = {x:.4f}, f(x) = {f(x):.4f}")</a:t>
                      </a: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177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44120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705491" y="330403"/>
            <a:ext cx="11408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/>
              <a:t>Обратное распространение ошибки</a:t>
            </a:r>
            <a:endParaRPr lang="ru-RU" sz="4400" b="1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7E847A7-8F15-A1BB-94F5-93F2F375B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89533" y="1111475"/>
            <a:ext cx="7531742" cy="598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124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884723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Обратное распространение ошибки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E49345A-741A-0A63-1066-8BBF41B5D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83" y="1354793"/>
            <a:ext cx="1302075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Вот как это работает по шагам: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① Прямой проход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— нейросеть берёт цифру (15 пикселей) и вычисляет ответ. Например, выдаёт [0.1, 0.8, 0.05, ...] — думает, что это цифра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② Ошибка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— сравниваем с правильным ответом. Если на самом деле это была 3, то правильный ответ [0, 0, 0, 1, ...]. </a:t>
            </a:r>
            <a:endParaRPr kumimoji="0" lang="en-US" altLang="ru-RU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Считаем разницу по каждому выходу: 0.8 − 0 = 0.8 — это ошибка.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③ Обратный проход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— ошибка "идёт назад" через всю сеть, от выхода к входу. На каждом слое вычисляется: </a:t>
            </a:r>
            <a:r>
              <a:rPr kumimoji="0" lang="ru-RU" altLang="ru-RU" sz="2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а насколько этот вес виноват в ошибке?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И вес чуть-чуть корректируется.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④ Формула правки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— в коде это буквально три строчки: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w2[i][j] -=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alpha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*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errors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[i] * </a:t>
            </a:r>
            <a:r>
              <a:rPr kumimoji="0" lang="ru-RU" altLang="ru-RU" sz="2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hidden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[j]</a:t>
            </a:r>
          </a:p>
        </p:txBody>
      </p:sp>
    </p:spTree>
    <p:extLst>
      <p:ext uri="{BB962C8B-B14F-4D97-AF65-F5344CB8AC3E}">
        <p14:creationId xmlns:p14="http://schemas.microsoft.com/office/powerpoint/2010/main" val="5367709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705491" y="330403"/>
            <a:ext cx="11408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/>
              <a:t>Скрытый слой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B8B6A-C238-71DC-D309-73921177E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047" y="1193763"/>
            <a:ext cx="1206856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Представь, что мы учим робота отличать пиццу от не-пиццы. У робота есть три датчика на входе: круглая?, есть сыр?, есть тесто?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Без скрытого слоя робот смотрит прямо на ответ: берёт три числа и сразу решает — пицца или нет. Это работает для простых правил.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Но вот задача сложнее: "пицца — это круглое С сыром, ИЛИ прямоугольное С тестом". Это уже нельзя выразить одной формулой вида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а×круглая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+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б×сыр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+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в×тесто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Слишком сложно для прямой линии.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Скрытый слой — это промежуточные понятия, которые сеть придумывает сама. Например: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Нейрон 1 скрытого слоя выучивает понятие </a:t>
            </a:r>
            <a:r>
              <a:rPr kumimoji="0" lang="ru-RU" altLang="ru-RU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"похоже на итальянское"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Нейрон 2 — </a:t>
            </a:r>
            <a:r>
              <a:rPr kumimoji="0" lang="ru-RU" altLang="ru-RU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"есть хлебная основа"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Нейрон 3 — </a:t>
            </a:r>
            <a:r>
              <a:rPr kumimoji="0" lang="ru-RU" altLang="ru-RU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"расплавленный </a:t>
            </a:r>
            <a:r>
              <a:rPr kumimoji="0" lang="ru-RU" altLang="ru-RU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топпинг</a:t>
            </a:r>
            <a:r>
              <a:rPr kumimoji="0" lang="ru-RU" altLang="ru-RU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Потом выходной слой смотрит уже не на сырые пиксели, а на эти высокоуровневые признаки — и решить становится легко.</a:t>
            </a:r>
          </a:p>
        </p:txBody>
      </p:sp>
    </p:spTree>
    <p:extLst>
      <p:ext uri="{BB962C8B-B14F-4D97-AF65-F5344CB8AC3E}">
        <p14:creationId xmlns:p14="http://schemas.microsoft.com/office/powerpoint/2010/main" val="6960653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357501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Скрытый слой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0EAC65B-5542-8CF3-BA33-3620AD8DB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067" y="1443945"/>
            <a:ext cx="1146253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Без скрытого слоя сеть делает только одно: берёт входы, умножает на веса и суммирует. Это всегда линейная функция: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выход = w₁·x₁ + w₂·x₂ + ... + b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Даже если поставить два таких слоя подряд — ничего не изменится. Два линейных действия = одно линейное действие.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>
              <a:solidFill>
                <a:schemeClr val="bg1"/>
              </a:solidFill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Это просто другая прямая линия. Сколько слоёв ни добавляй — всё равно прямая.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Скрытый слой +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ReLU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ломает эту линейность. В коде: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hidden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=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relu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(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layer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(x, w1, b1)) # ← вот здесь происходит "излом"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output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=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layer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(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hidden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, w2, b2)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dirty="0">
              <a:solidFill>
                <a:schemeClr val="bg1"/>
              </a:solidFill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ReLU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отрезает отрицательные значения — и граница решения перестаёт быть прямой. Теперь сеть может "сгибать" пространство, создавая произвольно сложные границы между классами.</a:t>
            </a:r>
          </a:p>
        </p:txBody>
      </p:sp>
    </p:spTree>
    <p:extLst>
      <p:ext uri="{BB962C8B-B14F-4D97-AF65-F5344CB8AC3E}">
        <p14:creationId xmlns:p14="http://schemas.microsoft.com/office/powerpoint/2010/main" val="33287657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7F26D-0F9B-DFF5-2FB4-9E508F48AFC7}"/>
              </a:ext>
            </a:extLst>
          </p:cNvPr>
          <p:cNvSpPr txBox="1"/>
          <p:nvPr/>
        </p:nvSpPr>
        <p:spPr>
          <a:xfrm>
            <a:off x="705491" y="330403"/>
            <a:ext cx="114084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/>
              <a:t>Общий обзор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B8B6A-C238-71DC-D309-73921177E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048" y="1329466"/>
            <a:ext cx="648770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Входной вектор: </a:t>
            </a:r>
            <a:r>
              <a:rPr lang="en-US" b="1" dirty="0"/>
              <a:t>x</a:t>
            </a:r>
            <a:r>
              <a:rPr lang="en-US" dirty="0"/>
              <a:t> ∈ ℝ¹⁵ (15 </a:t>
            </a:r>
            <a:r>
              <a:rPr lang="ru-RU" dirty="0"/>
              <a:t>пикселей цифры)</a:t>
            </a:r>
          </a:p>
          <a:p>
            <a:r>
              <a:rPr lang="ru-RU" dirty="0"/>
              <a:t>Матрица весов первого слоя: </a:t>
            </a:r>
            <a:r>
              <a:rPr lang="en-US" b="1" dirty="0"/>
              <a:t>W₁</a:t>
            </a:r>
            <a:r>
              <a:rPr lang="en-US" dirty="0"/>
              <a:t> ∈ ℝ²⁰ˣ¹⁵</a:t>
            </a:r>
          </a:p>
          <a:p>
            <a:r>
              <a:rPr lang="ru-RU" dirty="0"/>
              <a:t>Вектор смещений первого слоя: </a:t>
            </a:r>
            <a:r>
              <a:rPr lang="en-US" b="1" dirty="0"/>
              <a:t>b₁</a:t>
            </a:r>
            <a:r>
              <a:rPr lang="en-US" dirty="0"/>
              <a:t> ∈ ℝ²⁰</a:t>
            </a:r>
          </a:p>
          <a:p>
            <a:r>
              <a:rPr lang="ru-RU" dirty="0"/>
              <a:t>Матрица весов второго слоя: </a:t>
            </a:r>
            <a:r>
              <a:rPr lang="en-US" b="1" dirty="0"/>
              <a:t>W₂</a:t>
            </a:r>
            <a:r>
              <a:rPr lang="en-US" dirty="0"/>
              <a:t> ∈ ℝ¹⁰ˣ²⁰</a:t>
            </a:r>
          </a:p>
          <a:p>
            <a:r>
              <a:rPr lang="ru-RU" dirty="0"/>
              <a:t>Вектор смещений второго слоя: </a:t>
            </a:r>
            <a:r>
              <a:rPr lang="en-US" b="1" dirty="0"/>
              <a:t>b₂</a:t>
            </a:r>
            <a:r>
              <a:rPr lang="en-US" dirty="0"/>
              <a:t> ∈ ℝ¹⁰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Прямой проход</a:t>
            </a:r>
          </a:p>
          <a:p>
            <a:r>
              <a:rPr lang="ru-RU" dirty="0"/>
              <a:t>Шаг 1 — скрытый слой:</a:t>
            </a:r>
          </a:p>
          <a:p>
            <a:r>
              <a:rPr lang="ru-RU" dirty="0"/>
              <a:t>	</a:t>
            </a:r>
            <a:r>
              <a:rPr lang="en-US" dirty="0"/>
              <a:t>z₁ = W₁·x + b₁        (z₁ ∈ ℝ²⁰)</a:t>
            </a:r>
          </a:p>
          <a:p>
            <a:r>
              <a:rPr lang="ru-RU" dirty="0"/>
              <a:t>	</a:t>
            </a:r>
            <a:r>
              <a:rPr lang="en-US" dirty="0"/>
              <a:t>h  = </a:t>
            </a:r>
            <a:r>
              <a:rPr lang="en-US" dirty="0" err="1"/>
              <a:t>ReLU</a:t>
            </a:r>
            <a:r>
              <a:rPr lang="en-US" dirty="0"/>
              <a:t>(z₁)          (h ∈ ℝ²⁰)</a:t>
            </a:r>
            <a:endParaRPr lang="ru-RU" dirty="0"/>
          </a:p>
          <a:p>
            <a:r>
              <a:rPr lang="ru-RU" dirty="0"/>
              <a:t>где </a:t>
            </a:r>
            <a:r>
              <a:rPr lang="ru-RU" dirty="0" err="1"/>
              <a:t>ReLU</a:t>
            </a:r>
            <a:r>
              <a:rPr lang="ru-RU" dirty="0"/>
              <a:t> применяется поэлементно: </a:t>
            </a:r>
            <a:r>
              <a:rPr lang="ru-RU" dirty="0" err="1"/>
              <a:t>ReLU</a:t>
            </a:r>
            <a:r>
              <a:rPr lang="ru-RU" dirty="0"/>
              <a:t>(t) = </a:t>
            </a:r>
            <a:r>
              <a:rPr lang="ru-RU" dirty="0" err="1"/>
              <a:t>max</a:t>
            </a:r>
            <a:r>
              <a:rPr lang="ru-RU" dirty="0"/>
              <a:t>(0, t)</a:t>
            </a:r>
          </a:p>
          <a:p>
            <a:r>
              <a:rPr lang="ru-RU" dirty="0"/>
              <a:t>Шаг 2 — выходной слой:</a:t>
            </a:r>
          </a:p>
          <a:p>
            <a:r>
              <a:rPr lang="ru-RU" dirty="0"/>
              <a:t>	z₂ = W₂·h + b₂        (z₂ ∈ ℝ¹⁰)</a:t>
            </a:r>
          </a:p>
          <a:p>
            <a:r>
              <a:rPr lang="ru-RU" dirty="0"/>
              <a:t>Итого вся сеть — одна формула:</a:t>
            </a:r>
          </a:p>
          <a:p>
            <a:r>
              <a:rPr lang="ru-RU" dirty="0"/>
              <a:t>	f(x) = W₂ · </a:t>
            </a:r>
            <a:r>
              <a:rPr lang="ru-RU" dirty="0" err="1"/>
              <a:t>ReLU</a:t>
            </a:r>
            <a:r>
              <a:rPr lang="ru-RU" dirty="0"/>
              <a:t>(W₁·x + b₁) + b₂</a:t>
            </a:r>
          </a:p>
          <a:p>
            <a:endParaRPr lang="ru-RU" dirty="0"/>
          </a:p>
          <a:p>
            <a:r>
              <a:rPr lang="ru-RU" dirty="0"/>
              <a:t>Функция потерь</a:t>
            </a:r>
          </a:p>
          <a:p>
            <a:r>
              <a:rPr lang="ru-RU" dirty="0"/>
              <a:t>Используется среднеквадратичная ошибка (MSE). Для одной цифры с номером d:</a:t>
            </a:r>
          </a:p>
          <a:p>
            <a:r>
              <a:rPr lang="ru-RU" dirty="0"/>
              <a:t>L = Σᵢ (f(x)ᵢ − yᵢ)²</a:t>
            </a:r>
            <a:endParaRPr 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A41EE42-F444-DA93-C399-C07CEF07B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2073" y="1467965"/>
            <a:ext cx="648770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Обучение — градиентный спуск</a:t>
            </a:r>
          </a:p>
          <a:p>
            <a:r>
              <a:rPr lang="ru-RU" dirty="0"/>
              <a:t>Ошибка выходного слоя (уже посчитана в коде как </a:t>
            </a:r>
            <a:r>
              <a:rPr lang="en-US" dirty="0"/>
              <a:t>errors):</a:t>
            </a:r>
          </a:p>
          <a:p>
            <a:r>
              <a:rPr lang="ru-RU" dirty="0"/>
              <a:t>	</a:t>
            </a:r>
            <a:r>
              <a:rPr lang="el-GR" dirty="0"/>
              <a:t>δ₂ = </a:t>
            </a:r>
            <a:r>
              <a:rPr lang="en-US" dirty="0"/>
              <a:t>f(x) − y        (</a:t>
            </a:r>
            <a:r>
              <a:rPr lang="el-GR" dirty="0"/>
              <a:t>δ₂ ∈ ℝ¹⁰)</a:t>
            </a:r>
          </a:p>
          <a:p>
            <a:r>
              <a:rPr lang="ru-RU" dirty="0"/>
              <a:t>Обновление </a:t>
            </a:r>
            <a:r>
              <a:rPr lang="en-US" dirty="0"/>
              <a:t>W₂ </a:t>
            </a:r>
            <a:r>
              <a:rPr lang="ru-RU" dirty="0"/>
              <a:t>и </a:t>
            </a:r>
            <a:r>
              <a:rPr lang="en-US" dirty="0"/>
              <a:t>b₂:</a:t>
            </a:r>
          </a:p>
          <a:p>
            <a:r>
              <a:rPr lang="ru-RU" dirty="0"/>
              <a:t>	</a:t>
            </a:r>
            <a:r>
              <a:rPr lang="en-US" dirty="0"/>
              <a:t>W₂ ← W₂ − </a:t>
            </a:r>
            <a:r>
              <a:rPr lang="el-GR" dirty="0"/>
              <a:t>α · δ₂ · </a:t>
            </a:r>
            <a:r>
              <a:rPr lang="en-US" dirty="0"/>
              <a:t>hᵀ</a:t>
            </a:r>
          </a:p>
          <a:p>
            <a:r>
              <a:rPr lang="ru-RU" dirty="0"/>
              <a:t>	</a:t>
            </a:r>
            <a:r>
              <a:rPr lang="en-US" dirty="0"/>
              <a:t>b₂ ← b₂ − </a:t>
            </a:r>
            <a:r>
              <a:rPr lang="el-GR" dirty="0"/>
              <a:t>α · δ₂</a:t>
            </a:r>
          </a:p>
          <a:p>
            <a:r>
              <a:rPr lang="ru-RU" dirty="0"/>
              <a:t>Ошибка скрытого слоя (обратное распространение через </a:t>
            </a:r>
            <a:r>
              <a:rPr lang="en-US" dirty="0" err="1"/>
              <a:t>ReLU</a:t>
            </a:r>
            <a:r>
              <a:rPr lang="en-US" dirty="0"/>
              <a:t>):</a:t>
            </a:r>
          </a:p>
          <a:p>
            <a:r>
              <a:rPr lang="ru-RU" dirty="0"/>
              <a:t>	</a:t>
            </a:r>
            <a:r>
              <a:rPr lang="el-GR" dirty="0"/>
              <a:t>δ₁ = (</a:t>
            </a:r>
            <a:r>
              <a:rPr lang="en-US" dirty="0"/>
              <a:t>W₂ᵀ · </a:t>
            </a:r>
            <a:r>
              <a:rPr lang="el-GR" dirty="0"/>
              <a:t>δ₂) ⊙ </a:t>
            </a:r>
            <a:r>
              <a:rPr lang="en-US" dirty="0" err="1"/>
              <a:t>ReLU</a:t>
            </a:r>
            <a:r>
              <a:rPr lang="en-US" dirty="0"/>
              <a:t>'(z₁)</a:t>
            </a:r>
          </a:p>
          <a:p>
            <a:endParaRPr lang="ru-RU" dirty="0"/>
          </a:p>
          <a:p>
            <a:r>
              <a:rPr lang="ru-RU" dirty="0"/>
              <a:t>Производная </a:t>
            </a:r>
            <a:r>
              <a:rPr lang="en-US" dirty="0" err="1"/>
              <a:t>ReLU</a:t>
            </a:r>
            <a:r>
              <a:rPr lang="en-US" dirty="0"/>
              <a:t>:</a:t>
            </a:r>
          </a:p>
          <a:p>
            <a:r>
              <a:rPr lang="en-US" dirty="0" err="1"/>
              <a:t>ReLU</a:t>
            </a:r>
            <a:r>
              <a:rPr lang="en-US" dirty="0"/>
              <a:t>'(t) = 1, </a:t>
            </a:r>
            <a:r>
              <a:rPr lang="ru-RU" dirty="0"/>
              <a:t>если </a:t>
            </a:r>
            <a:r>
              <a:rPr lang="en-US" dirty="0"/>
              <a:t>t &gt; 0</a:t>
            </a:r>
          </a:p>
          <a:p>
            <a:r>
              <a:rPr lang="en-US" dirty="0"/>
              <a:t>           0, </a:t>
            </a:r>
            <a:r>
              <a:rPr lang="ru-RU" dirty="0"/>
              <a:t>если </a:t>
            </a:r>
            <a:r>
              <a:rPr lang="en-US" dirty="0"/>
              <a:t>t ≤ 0</a:t>
            </a:r>
          </a:p>
          <a:p>
            <a:r>
              <a:rPr lang="ru-RU" dirty="0"/>
              <a:t>Именно это в коде: </a:t>
            </a:r>
            <a:r>
              <a:rPr lang="en-US" dirty="0"/>
              <a:t>if hidden[j] == 0: </a:t>
            </a:r>
            <a:r>
              <a:rPr lang="en-US" dirty="0" err="1"/>
              <a:t>hidden_errors</a:t>
            </a:r>
            <a:r>
              <a:rPr lang="en-US" dirty="0"/>
              <a:t>[j] = 0</a:t>
            </a:r>
          </a:p>
          <a:p>
            <a:r>
              <a:rPr lang="ru-RU" dirty="0"/>
              <a:t>Обновление </a:t>
            </a:r>
            <a:r>
              <a:rPr lang="en-US" dirty="0"/>
              <a:t>W₁ </a:t>
            </a:r>
            <a:r>
              <a:rPr lang="ru-RU" dirty="0"/>
              <a:t>и </a:t>
            </a:r>
            <a:r>
              <a:rPr lang="en-US" dirty="0"/>
              <a:t>b₁:</a:t>
            </a:r>
          </a:p>
          <a:p>
            <a:r>
              <a:rPr lang="en-US" dirty="0"/>
              <a:t>W₁ ← W₁ − </a:t>
            </a:r>
            <a:r>
              <a:rPr lang="el-GR" dirty="0"/>
              <a:t>α · δ₁ · </a:t>
            </a:r>
            <a:r>
              <a:rPr lang="en-US" dirty="0"/>
              <a:t>xᵀ</a:t>
            </a:r>
          </a:p>
          <a:p>
            <a:r>
              <a:rPr lang="en-US" dirty="0"/>
              <a:t>b₁ ← b₁ − </a:t>
            </a:r>
            <a:r>
              <a:rPr lang="el-GR" dirty="0"/>
              <a:t>α · δ₁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CBC7DD-3A9B-FF1B-CE1F-6956D51D973C}"/>
              </a:ext>
            </a:extLst>
          </p:cNvPr>
          <p:cNvSpPr txBox="1"/>
          <p:nvPr/>
        </p:nvSpPr>
        <p:spPr>
          <a:xfrm>
            <a:off x="7118717" y="6474814"/>
            <a:ext cx="73605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i="1" dirty="0"/>
              <a:t>Σ — знак алгебраической суммы. Он означает, что нужно сложить все числа от нижнего до верхнего, а перед этим сделать с ними то, что написано после знака Σ</a:t>
            </a:r>
          </a:p>
          <a:p>
            <a:r>
              <a:rPr lang="el-GR" sz="1600" i="1" dirty="0"/>
              <a:t>δ</a:t>
            </a:r>
            <a:r>
              <a:rPr lang="ru-RU" sz="1600" i="1" dirty="0"/>
              <a:t> – дельта. градиент ошибки в обратном распространении</a:t>
            </a:r>
          </a:p>
          <a:p>
            <a:r>
              <a:rPr lang="ru-RU" sz="1600" dirty="0"/>
              <a:t>⊙ — поэлементное умножение</a:t>
            </a:r>
            <a:endParaRPr lang="ru-RU" sz="1600" i="1" dirty="0"/>
          </a:p>
        </p:txBody>
      </p:sp>
    </p:spTree>
    <p:extLst>
      <p:ext uri="{BB962C8B-B14F-4D97-AF65-F5344CB8AC3E}">
        <p14:creationId xmlns:p14="http://schemas.microsoft.com/office/powerpoint/2010/main" val="27852951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25737" y="289929"/>
            <a:ext cx="284847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Всё вместе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521DC-1CFB-D652-E601-12379A6F323B}"/>
              </a:ext>
            </a:extLst>
          </p:cNvPr>
          <p:cNvSpPr txBox="1"/>
          <p:nvPr/>
        </p:nvSpPr>
        <p:spPr>
          <a:xfrm>
            <a:off x="1881699" y="1508520"/>
            <a:ext cx="736054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для каждой эпохи: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для каждой цифры d = 0..9: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    h  = </a:t>
            </a:r>
            <a:r>
              <a:rPr lang="ru-RU" sz="2800" dirty="0" err="1">
                <a:solidFill>
                  <a:schemeClr val="bg1"/>
                </a:solidFill>
              </a:rPr>
              <a:t>ReLU</a:t>
            </a:r>
            <a:r>
              <a:rPr lang="ru-RU" sz="2800" dirty="0">
                <a:solidFill>
                  <a:schemeClr val="bg1"/>
                </a:solidFill>
              </a:rPr>
              <a:t>(W₁·x + b₁)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    ŷ  = W₂·h + b₂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    δ₂ = ŷ − y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    δ₁ = (W₂ᵀ·δ₂) ⊙ </a:t>
            </a:r>
            <a:r>
              <a:rPr lang="ru-RU" sz="2800" dirty="0" err="1">
                <a:solidFill>
                  <a:schemeClr val="bg1"/>
                </a:solidFill>
              </a:rPr>
              <a:t>ReLU</a:t>
            </a:r>
            <a:r>
              <a:rPr lang="ru-RU" sz="2800" dirty="0">
                <a:solidFill>
                  <a:schemeClr val="bg1"/>
                </a:solidFill>
              </a:rPr>
              <a:t>'(W₁·x + b₁)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    W₂ ← W₂ − α·δ₂·hᵀ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    W₁ ← W₁ − α·δ₁·xᵀ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    b₂ ← b₂ − α·δ₂</a:t>
            </a:r>
          </a:p>
          <a:p>
            <a:r>
              <a:rPr lang="ru-RU" sz="2800" dirty="0">
                <a:solidFill>
                  <a:schemeClr val="bg1"/>
                </a:solidFill>
              </a:rPr>
              <a:t>        b₁ ← b₁ − α·δ₁</a:t>
            </a:r>
          </a:p>
        </p:txBody>
      </p:sp>
    </p:spTree>
    <p:extLst>
      <p:ext uri="{BB962C8B-B14F-4D97-AF65-F5344CB8AC3E}">
        <p14:creationId xmlns:p14="http://schemas.microsoft.com/office/powerpoint/2010/main" val="403228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3400</TotalTime>
  <Words>6402</Words>
  <Application>Microsoft Office PowerPoint</Application>
  <PresentationFormat>Произвольный</PresentationFormat>
  <Paragraphs>613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4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Илья Паньковский</dc:creator>
  <cp:keywords/>
  <dc:description>generated using python-pptx</dc:description>
  <cp:lastModifiedBy>Илья Паньковский</cp:lastModifiedBy>
  <cp:revision>450</cp:revision>
  <dcterms:created xsi:type="dcterms:W3CDTF">2013-01-27T09:14:16Z</dcterms:created>
  <dcterms:modified xsi:type="dcterms:W3CDTF">2026-05-02T21:17:56Z</dcterms:modified>
  <cp:category/>
</cp:coreProperties>
</file>