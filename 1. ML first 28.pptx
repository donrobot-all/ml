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305" r:id="rId4"/>
    <p:sldId id="298" r:id="rId5"/>
    <p:sldId id="306" r:id="rId6"/>
    <p:sldId id="304" r:id="rId7"/>
    <p:sldId id="307" r:id="rId8"/>
    <p:sldId id="308" r:id="rId9"/>
    <p:sldId id="309" r:id="rId10"/>
    <p:sldId id="311" r:id="rId11"/>
    <p:sldId id="312" r:id="rId12"/>
    <p:sldId id="313" r:id="rId13"/>
    <p:sldId id="314" r:id="rId14"/>
    <p:sldId id="315" r:id="rId15"/>
    <p:sldId id="316" r:id="rId16"/>
    <p:sldId id="317" r:id="rId17"/>
    <p:sldId id="310" r:id="rId18"/>
    <p:sldId id="318" r:id="rId19"/>
    <p:sldId id="319" r:id="rId20"/>
    <p:sldId id="320" r:id="rId21"/>
    <p:sldId id="321" r:id="rId22"/>
    <p:sldId id="323" r:id="rId23"/>
    <p:sldId id="322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331" r:id="rId32"/>
    <p:sldId id="332" r:id="rId33"/>
    <p:sldId id="333" r:id="rId34"/>
    <p:sldId id="334" r:id="rId35"/>
    <p:sldId id="335" r:id="rId36"/>
    <p:sldId id="336" r:id="rId37"/>
    <p:sldId id="337" r:id="rId38"/>
    <p:sldId id="338" r:id="rId39"/>
    <p:sldId id="339" r:id="rId40"/>
    <p:sldId id="340" r:id="rId41"/>
    <p:sldId id="341" r:id="rId42"/>
    <p:sldId id="342" r:id="rId43"/>
    <p:sldId id="343" r:id="rId44"/>
    <p:sldId id="344" r:id="rId45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729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49" autoAdjust="0"/>
    <p:restoredTop sz="94844" autoAdjust="0"/>
  </p:normalViewPr>
  <p:slideViewPr>
    <p:cSldViewPr snapToGrid="0" snapToObjects="1">
      <p:cViewPr varScale="1">
        <p:scale>
          <a:sx n="127" d="100"/>
          <a:sy n="127" d="100"/>
        </p:scale>
        <p:origin x="336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49093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Глубокое обучение </a:t>
            </a:r>
            <a:endParaRPr lang="ru-RU" sz="44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943" y="285886"/>
            <a:ext cx="49830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Глубокое обучение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23943" y="1302896"/>
            <a:ext cx="1297910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это подмножество методов машинного обучения, области изучения и создания машин, которые могут обучаться.</a:t>
            </a:r>
          </a:p>
          <a:p>
            <a:pPr algn="ctr"/>
            <a:r>
              <a:rPr lang="ru-RU" sz="2800" dirty="0"/>
              <a:t>Глубокое обучение используется в промышленности для решения практических задач в самых разных областях, таких как компьютерное зрение (изображения), обработка естественного языка (текст) и автоматическое распознавание речи. Проще говоря, глубокое обучение — это подмножество методов машинного обучения, главным образом основанных на применении искусственных нейронных сетей, которые представляют класс алгоритмов, подражающих</a:t>
            </a:r>
          </a:p>
          <a:p>
            <a:pPr algn="ctr"/>
            <a:r>
              <a:rPr lang="ru-RU" sz="2800" dirty="0"/>
              <a:t>человеческому мозгу.</a:t>
            </a:r>
            <a:endParaRPr sz="2800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6C8D5-71D1-1D65-F038-409582E10C16}"/>
              </a:ext>
            </a:extLst>
          </p:cNvPr>
          <p:cNvSpPr txBox="1"/>
          <p:nvPr/>
        </p:nvSpPr>
        <p:spPr>
          <a:xfrm>
            <a:off x="10596284" y="6386789"/>
            <a:ext cx="381896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«Если объект похож на другие объекты определённого класса, то, скорее всего, он принадлежит к этому же классу.»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410584" y="335778"/>
            <a:ext cx="536300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Машинное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2F4BFC-5878-0AC3-A04E-D76E754D7B67}"/>
              </a:ext>
            </a:extLst>
          </p:cNvPr>
          <p:cNvSpPr txBox="1"/>
          <p:nvPr/>
        </p:nvSpPr>
        <p:spPr>
          <a:xfrm>
            <a:off x="717155" y="1937108"/>
            <a:ext cx="1226194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Машинное обучение — это область </a:t>
            </a:r>
            <a:r>
              <a:rPr lang="ru-RU" sz="2800" dirty="0" err="1">
                <a:solidFill>
                  <a:schemeClr val="bg1"/>
                </a:solidFill>
              </a:rPr>
              <a:t>computer</a:t>
            </a:r>
            <a:r>
              <a:rPr lang="ru-RU" sz="2800" dirty="0">
                <a:solidFill>
                  <a:schemeClr val="bg1"/>
                </a:solidFill>
              </a:rPr>
              <a:t> </a:t>
            </a:r>
            <a:r>
              <a:rPr lang="ru-RU" sz="2800" dirty="0" err="1">
                <a:solidFill>
                  <a:schemeClr val="bg1"/>
                </a:solidFill>
              </a:rPr>
              <a:t>science</a:t>
            </a:r>
            <a:r>
              <a:rPr lang="ru-RU" sz="2800" dirty="0">
                <a:solidFill>
                  <a:schemeClr val="bg1"/>
                </a:solidFill>
              </a:rPr>
              <a:t>,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в которой машины учатся решать задачи, для которых они не были запрограммированы непосредственно. Проще говоря, машины наблюдают закономерности и пытаются прямо или косвенно некоторым способом имитировать их</a:t>
            </a:r>
          </a:p>
        </p:txBody>
      </p:sp>
    </p:spTree>
    <p:extLst>
      <p:ext uri="{BB962C8B-B14F-4D97-AF65-F5344CB8AC3E}">
        <p14:creationId xmlns:p14="http://schemas.microsoft.com/office/powerpoint/2010/main" val="26120098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pic>
        <p:nvPicPr>
          <p:cNvPr id="7" name="Рисунок 6" descr="Изображение выглядит как текст, диаграмма, линия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FDB476DD-6379-EC05-6540-1B6CBC479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178" y="0"/>
            <a:ext cx="10533888" cy="8229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99397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787102" y="335778"/>
            <a:ext cx="541193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 с учителем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3F2EE-082F-3D64-0707-610E55007F80}"/>
              </a:ext>
            </a:extLst>
          </p:cNvPr>
          <p:cNvSpPr txBox="1"/>
          <p:nvPr/>
        </p:nvSpPr>
        <p:spPr>
          <a:xfrm>
            <a:off x="753035" y="1431287"/>
            <a:ext cx="1312433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Этот подход подразумевает обучение алгоритма МО на размеченных наборах данных. Для каждого примера в обучающем наборе алгоритм знает, какой результат является правильным. Он использует эти знания, чтобы попытаться обобщить их на новые примеры, которые он никогда раньше не видел. В размеченных данных каждый «вход» связан с правильным «выходом».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Обучение с учителем состоит из двух подкатегорий: классификации и регрессии.</a:t>
            </a:r>
          </a:p>
        </p:txBody>
      </p:sp>
    </p:spTree>
    <p:extLst>
      <p:ext uri="{BB962C8B-B14F-4D97-AF65-F5344CB8AC3E}">
        <p14:creationId xmlns:p14="http://schemas.microsoft.com/office/powerpoint/2010/main" val="750037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5457" y="41629"/>
            <a:ext cx="405181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sz="4400" dirty="0"/>
              <a:t>Классификации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3C1C1F-60FB-D2B5-D017-CE7E89736C1C}"/>
              </a:ext>
            </a:extLst>
          </p:cNvPr>
          <p:cNvSpPr txBox="1"/>
          <p:nvPr/>
        </p:nvSpPr>
        <p:spPr>
          <a:xfrm>
            <a:off x="0" y="2716149"/>
            <a:ext cx="652081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Здравоохранение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Обучение модели на исторических данных пациентов может помочь медицинским специалистам точно анализировать диагнозы. Во время пандемии COVID-19 были внедрены модели для эффективного прогнозирования наличия у человека COVID-19 или его отсутствия.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3A3577-70CB-8714-877C-94912D683A8E}"/>
              </a:ext>
            </a:extLst>
          </p:cNvPr>
          <p:cNvSpPr txBox="1"/>
          <p:nvPr/>
        </p:nvSpPr>
        <p:spPr>
          <a:xfrm>
            <a:off x="87331" y="5169191"/>
            <a:ext cx="63461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Транспорт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В этой отрасли используют модели машинного и глубокого обучения для  прогнозирования увеличения трафика в определённом географическом районе, потенциальных проблем дорожного движения из-за погодных условий и т. д. </a:t>
            </a:r>
            <a:endParaRPr lang="ru-RU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EE296-659A-DC87-392C-C61C2529FDD1}"/>
              </a:ext>
            </a:extLst>
          </p:cNvPr>
          <p:cNvSpPr txBox="1"/>
          <p:nvPr/>
        </p:nvSpPr>
        <p:spPr>
          <a:xfrm>
            <a:off x="6809590" y="2716149"/>
            <a:ext cx="709739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Образование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Неструктурированная информация из текстовых, видео- и аудиоданных может быть проанализирована с помощью моделей обработки естественного языка для выполнения таких задач, как классификация документов по категориям, автоматическое определение языка документов от студентов при подаче заявления, анализ студенческих отзывов.</a:t>
            </a:r>
            <a:endParaRPr lang="ru-RU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56B343-39EE-2F9F-6256-C52FCFD7CF84}"/>
              </a:ext>
            </a:extLst>
          </p:cNvPr>
          <p:cNvSpPr txBox="1"/>
          <p:nvPr/>
        </p:nvSpPr>
        <p:spPr>
          <a:xfrm>
            <a:off x="7481942" y="5273190"/>
            <a:ext cx="57526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Устойчивое сельское хозяйство</a:t>
            </a:r>
            <a:r>
              <a:rPr lang="ru-RU" dirty="0"/>
              <a:t>. </a:t>
            </a:r>
          </a:p>
          <a:p>
            <a:pPr algn="ctr"/>
            <a:r>
              <a:rPr lang="ru-RU" dirty="0"/>
              <a:t>Используя модели классификации, можно предсказать, какой тип земли лучше подходит для конкретного типа семян.</a:t>
            </a:r>
            <a:endParaRPr lang="ru-RU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40577A-F26D-0276-3472-863CE0346496}"/>
              </a:ext>
            </a:extLst>
          </p:cNvPr>
          <p:cNvSpPr txBox="1"/>
          <p:nvPr/>
        </p:nvSpPr>
        <p:spPr>
          <a:xfrm>
            <a:off x="285077" y="848140"/>
            <a:ext cx="921392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В классификации модель предсказывает правильную метку входных данных. Она полностью обучается и проходит тестовую оценку. Затем её можно применять для прогнозирования на новых, неизвестных данных.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233B14B-9E24-3D7C-5A48-ED8B63BE0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6000" y="348323"/>
            <a:ext cx="2471402" cy="201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830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3793" y="302266"/>
            <a:ext cx="26129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dirty="0"/>
              <a:t>Регрессия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750A6-580B-43FF-F7AE-F1D4B9CEF67E}"/>
              </a:ext>
            </a:extLst>
          </p:cNvPr>
          <p:cNvSpPr txBox="1"/>
          <p:nvPr/>
        </p:nvSpPr>
        <p:spPr>
          <a:xfrm>
            <a:off x="746416" y="1020933"/>
            <a:ext cx="1195836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Другая подкатегория обучения с учителем — регрессия, результатом которой является непрерывное значение. Например, вероятность или цена. Бывают линейные и логистические регрессии.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85CFBC5-F611-13EC-7A16-1536C354E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831" y="5094155"/>
            <a:ext cx="6109777" cy="26027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7C9AAE-FFAE-3E39-E0F4-DA165D9CABAA}"/>
              </a:ext>
            </a:extLst>
          </p:cNvPr>
          <p:cNvSpPr txBox="1"/>
          <p:nvPr/>
        </p:nvSpPr>
        <p:spPr>
          <a:xfrm>
            <a:off x="193638" y="2503165"/>
            <a:ext cx="712156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Линейная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Простой алгоритм, который моделирует линейную связь между одной или несколькими объясняющими переменными и непрерывной числовой выходной переменной. Он быстрее обучается по сравнению с другими алгоритмами машинного обучения. Его самое большое преимущество заключается в способности объяснять и интерпретировать прогнозы модели. Используется для прогнозирования продаж или для предсказания непрерывных значений, таких как цены на жильё, например.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99099F9-02AA-27B1-00AD-B45D2D4024AC}"/>
              </a:ext>
            </a:extLst>
          </p:cNvPr>
          <p:cNvSpPr txBox="1"/>
          <p:nvPr/>
        </p:nvSpPr>
        <p:spPr>
          <a:xfrm>
            <a:off x="7971416" y="2508832"/>
            <a:ext cx="57392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b="1" dirty="0"/>
              <a:t>Логистическая регрессия.</a:t>
            </a:r>
            <a:r>
              <a:rPr lang="ru-RU" dirty="0"/>
              <a:t> </a:t>
            </a:r>
          </a:p>
          <a:p>
            <a:pPr algn="just"/>
            <a:r>
              <a:rPr lang="ru-RU" dirty="0"/>
              <a:t>Не выполняет статистическую классификацию, а оценивает параметры логистической модели. Причина, по которой её можно применять для классификации, заключается в границе принятия решений, которая вставляется для разделения классов. Таким образом, в своей самой простой форме логистическая регрессия использует логистическую функцию для моделирования бинарных зависимых переменных.</a:t>
            </a:r>
          </a:p>
        </p:txBody>
      </p:sp>
    </p:spTree>
    <p:extLst>
      <p:ext uri="{BB962C8B-B14F-4D97-AF65-F5344CB8AC3E}">
        <p14:creationId xmlns:p14="http://schemas.microsoft.com/office/powerpoint/2010/main" val="409698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774551" y="1813577"/>
            <a:ext cx="1266712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проблема доступности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надёжности прогнозов и эффективности модели от качества и согласованности разметки;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зависимость производительности модели от правильно выбранных входных переменных;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сложность масштабирования;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ограниченность закономерностей, поскольку они только в пределах предоставленных наборов обучающих данных;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bg1"/>
                </a:solidFill>
              </a:rPr>
              <a:t> высокая вычислительная стоимость.</a:t>
            </a:r>
          </a:p>
        </p:txBody>
      </p:sp>
    </p:spTree>
    <p:extLst>
      <p:ext uri="{BB962C8B-B14F-4D97-AF65-F5344CB8AC3E}">
        <p14:creationId xmlns:p14="http://schemas.microsoft.com/office/powerpoint/2010/main" val="2012921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1532" y="274320"/>
            <a:ext cx="559877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000000"/>
                </a:solidFill>
              </a:defRPr>
            </a:pPr>
            <a:r>
              <a:rPr lang="ru-RU" b="1" dirty="0"/>
              <a:t>Обучение без учителя</a:t>
            </a:r>
            <a:endParaRPr lang="ru-RU" dirty="0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3B21E-6D13-78D3-2AA9-AB169A9E2EDB}"/>
              </a:ext>
            </a:extLst>
          </p:cNvPr>
          <p:cNvSpPr txBox="1"/>
          <p:nvPr/>
        </p:nvSpPr>
        <p:spPr>
          <a:xfrm>
            <a:off x="1124174" y="2346103"/>
            <a:ext cx="1238205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Обучение без учителя и обучение с учителем обладают одним общим свойством: они оба преобразуют один набор данных в другой. Но в обучении без учителя набор данных, в который происходит преобразование, прежде не был известен. В отличие от обучения с учителем, здесь нет «правильного ответа», который модель должна воспроизвести. Вы просто даете команду алгоритму «найти закономерности в этих данных и сообщить о них».</a:t>
            </a:r>
          </a:p>
        </p:txBody>
      </p:sp>
    </p:spTree>
    <p:extLst>
      <p:ext uri="{BB962C8B-B14F-4D97-AF65-F5344CB8AC3E}">
        <p14:creationId xmlns:p14="http://schemas.microsoft.com/office/powerpoint/2010/main" val="4244350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386157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Кластеризация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Например, кластеризация набора данных на группы — это разновидность обучения без учителя. Кластеризация преобразует последовательность точек данных в последовательность меток кластеров. Часто роль меток играют последовательные целые числа, например, в случае 10 кластерами будут созданы метки от 1 до 10. Каждая точка данных получит метку, в зависимости от того, к какому кластеру она будет отнесена. Набор данных, состоящий из точек, превратится в набор меток. Почему в качестве меток часто выбираются числа? Алгоритм ничего не может сказать о природе кластеров, он лишь сообщает вам: «Я обнаружил тут некоторые закономерности. Похоже, что ваши данные делятся на группы. Вот они!»</a:t>
            </a:r>
          </a:p>
        </p:txBody>
      </p:sp>
    </p:spTree>
    <p:extLst>
      <p:ext uri="{BB962C8B-B14F-4D97-AF65-F5344CB8AC3E}">
        <p14:creationId xmlns:p14="http://schemas.microsoft.com/office/powerpoint/2010/main" val="2874104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диаграмм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61BF1720-3B8E-E99C-0AB4-E80873558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1603" y="45604"/>
            <a:ext cx="9401202" cy="7587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88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096675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Ассоциация и сокращение размерности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C9503D-E006-E25B-3E40-0FC427E4F441}"/>
              </a:ext>
            </a:extLst>
          </p:cNvPr>
          <p:cNvSpPr txBox="1"/>
          <p:nvPr/>
        </p:nvSpPr>
        <p:spPr>
          <a:xfrm>
            <a:off x="225911" y="1402943"/>
            <a:ext cx="1400466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Поиск связей между переменными. Правила ассоциации часто применяются в аналитике потребительских корзин.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b="1" dirty="0">
                <a:solidFill>
                  <a:schemeClr val="bg1"/>
                </a:solidFill>
              </a:rPr>
              <a:t>Сокращение размерности</a:t>
            </a:r>
            <a:r>
              <a:rPr lang="ru-RU" sz="2800" dirty="0">
                <a:solidFill>
                  <a:schemeClr val="bg1"/>
                </a:solidFill>
              </a:rPr>
              <a:t>. Алгоритм количественно сокращает переменные в данных, но при этом стремится сохранить как можно больше информации. Этот метод применяется во время предварительной работы с данными. Пример: улучшение качества изображения посредством удаления шума при помощи </a:t>
            </a:r>
            <a:r>
              <a:rPr lang="ru-RU" sz="2800" dirty="0" err="1">
                <a:solidFill>
                  <a:schemeClr val="bg1"/>
                </a:solidFill>
              </a:rPr>
              <a:t>автокодировщика</a:t>
            </a:r>
            <a:r>
              <a:rPr lang="ru-RU" sz="28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63836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04AD34-CFF1-F95D-1E45-D3EF0ABFFAEE}"/>
              </a:ext>
            </a:extLst>
          </p:cNvPr>
          <p:cNvSpPr txBox="1"/>
          <p:nvPr/>
        </p:nvSpPr>
        <p:spPr>
          <a:xfrm>
            <a:off x="333488" y="1650905"/>
            <a:ext cx="73582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1208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Простая нейронная сеть</a:t>
            </a:r>
          </a:p>
        </p:txBody>
      </p:sp>
      <p:pic>
        <p:nvPicPr>
          <p:cNvPr id="9" name="Рисунок 8" descr="Изображение выглядит как текст, круг, снимок экрана, диаграмма&#10;&#10;Автоматически созданное описание">
            <a:extLst>
              <a:ext uri="{FF2B5EF4-FFF2-40B4-BE49-F238E27FC236}">
                <a16:creationId xmlns:a16="http://schemas.microsoft.com/office/drawing/2014/main" id="{DDD34A20-BF6F-1BE4-4260-AF0C1E1780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874" y="1650905"/>
            <a:ext cx="7207964" cy="4724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3255302" y="6006599"/>
            <a:ext cx="396957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Так что же такое нейронная сеть? На данный момент</a:t>
            </a:r>
          </a:p>
          <a:p>
            <a:pPr algn="ctr"/>
            <a:r>
              <a:rPr lang="ru-RU" i="1" dirty="0"/>
              <a:t>это один или несколько весовых коэффициентов, на которые можно умножить входные данные и получить прогноз.</a:t>
            </a:r>
          </a:p>
        </p:txBody>
      </p:sp>
    </p:spTree>
    <p:extLst>
      <p:ext uri="{BB962C8B-B14F-4D97-AF65-F5344CB8AC3E}">
        <p14:creationId xmlns:p14="http://schemas.microsoft.com/office/powerpoint/2010/main" val="2563719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85929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Нужно больше данных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4824" y="891054"/>
            <a:ext cx="7358230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8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endParaRPr lang="de-DE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9" name="Рисунок 8" descr="Изображение выглядит как текст, диаграмма, шаблон, оригами&#10;&#10;Автоматически созданное описание">
            <a:extLst>
              <a:ext uri="{FF2B5EF4-FFF2-40B4-BE49-F238E27FC236}">
                <a16:creationId xmlns:a16="http://schemas.microsoft.com/office/drawing/2014/main" id="{E2467192-09DD-5A20-7055-599D94671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419" y="908274"/>
            <a:ext cx="7097115" cy="6430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94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646619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Скалярное произведение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3A83F6-7C47-F8D5-67ED-7A12B988F177}"/>
              </a:ext>
            </a:extLst>
          </p:cNvPr>
          <p:cNvSpPr txBox="1"/>
          <p:nvPr/>
        </p:nvSpPr>
        <p:spPr>
          <a:xfrm>
            <a:off x="877861" y="3676606"/>
            <a:ext cx="506036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Узнаем скалярное произведение этих векторов</a:t>
            </a:r>
            <a:endParaRPr lang="pt-BR" i="1" dirty="0"/>
          </a:p>
          <a:p>
            <a:pPr algn="ctr"/>
            <a:r>
              <a:rPr lang="pt-BR" i="1" dirty="0"/>
              <a:t>a = [ 0, 1, 0, 1]</a:t>
            </a:r>
          </a:p>
          <a:p>
            <a:pPr algn="ctr"/>
            <a:r>
              <a:rPr lang="pt-BR" i="1" dirty="0"/>
              <a:t>b = [ 1, 0, 1, 0]</a:t>
            </a:r>
          </a:p>
          <a:p>
            <a:pPr algn="ctr"/>
            <a:r>
              <a:rPr lang="pt-BR" i="1" dirty="0"/>
              <a:t>c = [ 0, 1, 1, 0]</a:t>
            </a:r>
          </a:p>
          <a:p>
            <a:pPr algn="ctr"/>
            <a:r>
              <a:rPr lang="pt-BR" i="1" dirty="0"/>
              <a:t>d = [.5, 0,.5, 0]</a:t>
            </a:r>
          </a:p>
          <a:p>
            <a:pPr algn="ctr"/>
            <a:r>
              <a:rPr lang="pt-BR" i="1" dirty="0"/>
              <a:t>e = [ 0, 1,-1, 0]</a:t>
            </a:r>
            <a:endParaRPr lang="ru-RU" i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В прошлом примере вычисляется взвешенная сумма (скалярное произведение) по двум векторам. Вы берете два вектора одинаковой длины (</a:t>
            </a:r>
            <a:r>
              <a:rPr lang="de-DE" sz="2800" dirty="0" err="1"/>
              <a:t>data</a:t>
            </a:r>
            <a:r>
              <a:rPr lang="ru-RU" sz="2800" dirty="0"/>
              <a:t> и </a:t>
            </a:r>
            <a:r>
              <a:rPr lang="ru-RU" sz="2800" dirty="0" err="1"/>
              <a:t>weights</a:t>
            </a:r>
            <a:r>
              <a:rPr lang="ru-RU" sz="2800" dirty="0"/>
              <a:t>), перемножаете соответствующие элементы этих векторов (первый элемент в </a:t>
            </a:r>
            <a:r>
              <a:rPr lang="de-DE" sz="2800" dirty="0" err="1"/>
              <a:t>data</a:t>
            </a:r>
            <a:r>
              <a:rPr lang="ru-RU" sz="2800" dirty="0"/>
              <a:t> умножается на первый элемент в </a:t>
            </a:r>
            <a:r>
              <a:rPr lang="ru-RU" sz="2800" dirty="0" err="1"/>
              <a:t>weights</a:t>
            </a:r>
            <a:r>
              <a:rPr lang="ru-RU" sz="2800" dirty="0"/>
              <a:t>, и так далее), а затем суммируете результаты.</a:t>
            </a:r>
          </a:p>
          <a:p>
            <a:pPr algn="just"/>
            <a:r>
              <a:rPr lang="ru-RU" sz="2800" dirty="0"/>
              <a:t>Позволяет получить представление о сходстве двух векторов.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24579-CBC9-A6DC-248E-2CE8EF2625BA}"/>
              </a:ext>
            </a:extLst>
          </p:cNvPr>
          <p:cNvSpPr txBox="1"/>
          <p:nvPr/>
        </p:nvSpPr>
        <p:spPr>
          <a:xfrm>
            <a:off x="7497186" y="3649712"/>
            <a:ext cx="21963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l-PL" i="1" dirty="0"/>
              <a:t>w_sum(a</a:t>
            </a:r>
            <a:r>
              <a:rPr lang="ru-RU" i="1" dirty="0"/>
              <a:t>,</a:t>
            </a:r>
            <a:r>
              <a:rPr lang="pl-PL" i="1" dirty="0"/>
              <a:t>b) = 0</a:t>
            </a:r>
          </a:p>
          <a:p>
            <a:pPr algn="ctr"/>
            <a:r>
              <a:rPr lang="pl-PL" i="1" dirty="0"/>
              <a:t>w_sum(b,c) = 1</a:t>
            </a:r>
          </a:p>
          <a:p>
            <a:pPr algn="ctr"/>
            <a:r>
              <a:rPr lang="pl-PL" i="1" dirty="0"/>
              <a:t>w_sum(b,d) = 1</a:t>
            </a:r>
          </a:p>
          <a:p>
            <a:pPr algn="ctr"/>
            <a:r>
              <a:rPr lang="pl-PL" i="1" dirty="0"/>
              <a:t>w_sum(c,c) = 2</a:t>
            </a:r>
          </a:p>
          <a:p>
            <a:pPr algn="ctr"/>
            <a:r>
              <a:rPr lang="pl-PL" i="1" dirty="0"/>
              <a:t>w_sum(d,d) = .5</a:t>
            </a:r>
          </a:p>
          <a:p>
            <a:pPr algn="ctr"/>
            <a:r>
              <a:rPr lang="pl-PL" i="1" dirty="0"/>
              <a:t>w_sum(c,e) = 0</a:t>
            </a:r>
            <a:endParaRPr lang="ru-RU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79E844-1B3E-F2C4-4F3D-7FACDFE1077D}"/>
              </a:ext>
            </a:extLst>
          </p:cNvPr>
          <p:cNvSpPr txBox="1"/>
          <p:nvPr/>
        </p:nvSpPr>
        <p:spPr>
          <a:xfrm>
            <a:off x="24157" y="5991180"/>
            <a:ext cx="1382093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/>
              <a:t>Самой большой оказалась взвешенная сумма (</a:t>
            </a:r>
            <a:r>
              <a:rPr lang="ru-RU" i="1" dirty="0" err="1"/>
              <a:t>w_sum</a:t>
            </a:r>
            <a:r>
              <a:rPr lang="ru-RU" i="1" dirty="0"/>
              <a:t>(</a:t>
            </a:r>
            <a:r>
              <a:rPr lang="ru-RU" i="1" dirty="0" err="1"/>
              <a:t>c,c</a:t>
            </a:r>
            <a:r>
              <a:rPr lang="ru-RU" i="1" dirty="0"/>
              <a:t>)) двух абсолютно идентичных векторов. Напротив, так как векторы а и b имеют прямо противоположные веса, их скалярное произведение равно нулю. Наибольший интерес представляет, пожалуй, взвешенная сумма векторов сие, потому что е имеет один отрицательный вес. Этот отрицательный вес уравновесил положительное сходство между ними. Однако скалярное произведение вектора е на самого себя дает в результате 2, несмотря на отрицательный вес (как известно, минус на минус дает плюс)</a:t>
            </a:r>
          </a:p>
        </p:txBody>
      </p:sp>
    </p:spTree>
    <p:extLst>
      <p:ext uri="{BB962C8B-B14F-4D97-AF65-F5344CB8AC3E}">
        <p14:creationId xmlns:p14="http://schemas.microsoft.com/office/powerpoint/2010/main" val="3983524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345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4400" b="1" dirty="0">
                <a:solidFill>
                  <a:schemeClr val="bg1"/>
                </a:solidFill>
              </a:rPr>
              <a:t>NumPy &lt;dot product&gt;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B164A-914D-8DD5-3F67-BE329CDC4BD5}"/>
              </a:ext>
            </a:extLst>
          </p:cNvPr>
          <p:cNvSpPr txBox="1"/>
          <p:nvPr/>
        </p:nvSpPr>
        <p:spPr>
          <a:xfrm>
            <a:off x="430306" y="1780133"/>
            <a:ext cx="47010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6368527" y="1826373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9663" y="600383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numpy.dot(a, b,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=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None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a, b — массивы (векторы, матрицы, тензоры).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out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+mj-lt"/>
              </a:rPr>
              <a:t> — опциональный массив для результата (для производительности).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82664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bg1"/>
                </a:solidFill>
              </a:rPr>
              <a:t>Проект: Система рекомендации фильмов на основе скалярного произведения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2132381"/>
            <a:ext cx="733868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Шаг 1: Подготовка данных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2: Функция скалярного произведения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3: Найти похожего пользователя</a:t>
            </a:r>
          </a:p>
          <a:p>
            <a:r>
              <a:rPr lang="ru-RU" b="1" dirty="0">
                <a:solidFill>
                  <a:schemeClr val="bg1"/>
                </a:solidFill>
              </a:rPr>
              <a:t>Шаг 4: Матрица схожести</a:t>
            </a:r>
          </a:p>
          <a:p>
            <a:endParaRPr lang="ru-RU" b="1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DD480-AB16-3D53-4110-1E258431B3A6}"/>
              </a:ext>
            </a:extLst>
          </p:cNvPr>
          <p:cNvSpPr txBox="1"/>
          <p:nvPr/>
        </p:nvSpPr>
        <p:spPr>
          <a:xfrm>
            <a:off x="5938838" y="1855351"/>
            <a:ext cx="73628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"Анна"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"Борис"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"Виктор"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"Дарья"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movies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"Матрица"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"Пираты"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"Начало"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Интерстеллар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"Форсаж"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ratings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Борис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Виктор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Дарья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4662487" y="4825486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Анна: [5, 3, 4, 5, 2]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Борисом: 5*4 + 3*4 + 4*5 + 5*3 + 2*5 = 20+12+20+15+10 = 77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Виктором: 5*2 + 3*5 + 4*3 + 5*4 + 2*4 = 10+15+12+20+8 = 65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С Дарьей: 5*3 + 3*2 + 4*5 + 5*5 + 2*3 = 15+6+20+25+6 = 72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6902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Бонус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18" y="1532186"/>
            <a:ext cx="13482306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Шаг 5: Дать рекомендации</a:t>
            </a:r>
          </a:p>
          <a:p>
            <a:r>
              <a:rPr lang="ru-RU" dirty="0">
                <a:solidFill>
                  <a:schemeClr val="bg1"/>
                </a:solidFill>
              </a:rPr>
              <a:t>Если у нас есть два пользователя с похожими вкусами, то фильмы, которые понравились одному, скорее всего понравятся и другому.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4320A7-D0F9-7300-A30E-B46D9FC34D85}"/>
              </a:ext>
            </a:extLst>
          </p:cNvPr>
          <p:cNvSpPr txBox="1"/>
          <p:nvPr/>
        </p:nvSpPr>
        <p:spPr>
          <a:xfrm>
            <a:off x="1004887" y="2659590"/>
            <a:ext cx="913923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Находим "кино-близнеца 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Смотрим, какие фильмы нравятся "близнецу"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Фильтруем: что еще не нравится текущему пользователю</a:t>
            </a:r>
          </a:p>
          <a:p>
            <a:pPr marL="342900" indent="-342900">
              <a:buFontTx/>
              <a:buAutoNum type="arabicPeriod"/>
            </a:pPr>
            <a:r>
              <a:rPr lang="ru-RU" b="1" dirty="0">
                <a:solidFill>
                  <a:schemeClr val="bg1"/>
                </a:solidFill>
              </a:rPr>
              <a:t>Применяем два условия одновременно</a:t>
            </a:r>
          </a:p>
          <a:p>
            <a:pPr marL="342900" indent="-342900">
              <a:buAutoNum type="arabicPeriod"/>
            </a:pPr>
            <a:endParaRPr lang="ru-RU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5737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E077B-02EB-BC53-0026-9583FC2BD291}"/>
              </a:ext>
            </a:extLst>
          </p:cNvPr>
          <p:cNvSpPr txBox="1"/>
          <p:nvPr/>
        </p:nvSpPr>
        <p:spPr>
          <a:xfrm>
            <a:off x="176687" y="1668215"/>
            <a:ext cx="615337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numpy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.dot(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toes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nfans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]])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5454B41-26DC-C9D4-1D64-EE8689CB57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0061" y="1954588"/>
            <a:ext cx="7338682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это пример самой простой нейросети — одного нейрона без обучения.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Один нейрон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Без обучения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Без функции активации</a:t>
            </a:r>
            <a:br>
              <a:rPr lang="ru-RU" dirty="0">
                <a:solidFill>
                  <a:schemeClr val="bg1"/>
                </a:solidFill>
                <a:latin typeface="+mj-lt"/>
              </a:rPr>
            </a:br>
            <a:r>
              <a:rPr lang="ru-RU" dirty="0">
                <a:solidFill>
                  <a:schemeClr val="bg1"/>
                </a:solidFill>
                <a:latin typeface="+mj-lt"/>
              </a:rPr>
              <a:t>Просто линейная модель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  <a:latin typeface="+mj-lt"/>
              </a:rPr>
              <a:t>Берёт 3 признака -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Умножает их на веса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-&gt;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Складывает</a:t>
            </a:r>
            <a:endParaRPr lang="en-US" dirty="0">
              <a:solidFill>
                <a:schemeClr val="bg1"/>
              </a:solidFill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dirty="0" err="1">
                <a:solidFill>
                  <a:schemeClr val="bg1"/>
                </a:solidFill>
                <a:latin typeface="+mj-lt"/>
              </a:rPr>
              <a:t>Dot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-</a:t>
            </a:r>
            <a:r>
              <a:rPr lang="de-DE" dirty="0">
                <a:solidFill>
                  <a:schemeClr val="bg1"/>
                </a:solidFill>
                <a:latin typeface="+mj-lt"/>
              </a:rPr>
              <a:t> </a:t>
            </a:r>
            <a:r>
              <a:rPr lang="ru-RU" dirty="0">
                <a:solidFill>
                  <a:schemeClr val="bg1"/>
                </a:solidFill>
                <a:latin typeface="+mj-lt"/>
              </a:rPr>
              <a:t>взвешенная сумма — основной принцип нейронов.</a:t>
            </a:r>
          </a:p>
        </p:txBody>
      </p:sp>
    </p:spTree>
    <p:extLst>
      <p:ext uri="{BB962C8B-B14F-4D97-AF65-F5344CB8AC3E}">
        <p14:creationId xmlns:p14="http://schemas.microsoft.com/office/powerpoint/2010/main" val="814636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5411290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/>
              <a:t>А что если наоборот?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80C3F2-B545-C433-FE3A-355222AFE26A}"/>
              </a:ext>
            </a:extLst>
          </p:cNvPr>
          <p:cNvSpPr txBox="1"/>
          <p:nvPr/>
        </p:nvSpPr>
        <p:spPr>
          <a:xfrm>
            <a:off x="225911" y="1402943"/>
            <a:ext cx="140046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/>
              <a:t>Сети способны возвращать несколько прогнозов для единственного входа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7190AA-E3F2-5F66-FF43-7BFBADC0F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" y="1974313"/>
            <a:ext cx="7048500" cy="338137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6C8B58-7AC4-848B-2E7D-9C8F79F5A5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8742" y="1974313"/>
            <a:ext cx="70866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76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59308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Вернёмся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29BCFD1-275A-59FC-21D6-E5719571A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316368"/>
            <a:ext cx="7000875" cy="3295650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4571341D-7DC8-17CE-E5D7-CD46B834E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" y="1662112"/>
            <a:ext cx="6162675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907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2381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Несколько выходов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71C34-A196-E3FC-CE6E-C831E6004B59}"/>
              </a:ext>
            </a:extLst>
          </p:cNvPr>
          <p:cNvSpPr txBox="1"/>
          <p:nvPr/>
        </p:nvSpPr>
        <p:spPr>
          <a:xfrm>
            <a:off x="914401" y="1551429"/>
            <a:ext cx="546488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ele_mul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output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wlrec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DE88C-5961-6EA6-DB94-8ECB294992B7}"/>
              </a:ext>
            </a:extLst>
          </p:cNvPr>
          <p:cNvSpPr txBox="1"/>
          <p:nvPr/>
        </p:nvSpPr>
        <p:spPr>
          <a:xfrm>
            <a:off x="6766560" y="1981214"/>
            <a:ext cx="4356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[0.195, 0.13, 0.5850000000000001]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DD97EECE-1E49-BD0E-9FC0-CAA88038BB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513" y="2561019"/>
            <a:ext cx="2286000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6917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Прогнозирование с несколькими</a:t>
            </a:r>
          </a:p>
          <a:p>
            <a:r>
              <a:rPr lang="ru-RU" sz="4400" b="1" dirty="0"/>
              <a:t>входами и выходами</a:t>
            </a: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87498E8D-38AC-8022-C714-91A3DF44A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568852"/>
              </p:ext>
            </p:extLst>
          </p:nvPr>
        </p:nvGraphicFramePr>
        <p:xfrm>
          <a:off x="744428" y="1765048"/>
          <a:ext cx="8229600" cy="1151739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3418070909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916049538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3731104686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11775315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Версия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Входы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Выход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6093502"/>
                  </a:ext>
                </a:extLst>
              </a:tr>
              <a:tr h="420219">
                <a:tc>
                  <a:txBody>
                    <a:bodyPr/>
                    <a:lstStyle/>
                    <a:p>
                      <a:r>
                        <a:rPr lang="ru-RU"/>
                        <a:t>Первая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91827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dirty="0"/>
                        <a:t>Вторая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один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много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524863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5238974" y="5710939"/>
            <a:ext cx="345320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Слой из 3 нейронов</a:t>
            </a:r>
            <a:br>
              <a:rPr lang="ru-RU" dirty="0"/>
            </a:br>
            <a:r>
              <a:rPr lang="ru-RU" dirty="0"/>
              <a:t>Каждый видит все входы</a:t>
            </a:r>
            <a:br>
              <a:rPr lang="ru-RU" dirty="0"/>
            </a:br>
            <a:r>
              <a:rPr lang="ru-RU" dirty="0"/>
              <a:t>Возвращает вектор выходов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Подходы к созданию сетей с несколькими входами и несколькими выходами можно объединить и создать сеть, принимающую несколько значений на входе и возвращающую несколько прогнозов. Как и прежде, каждый вес в этой сети связывает каждое входное значение с каждым выходным значением, и прогнозирование происходит обычным образом.</a:t>
            </a:r>
          </a:p>
        </p:txBody>
      </p:sp>
    </p:spTree>
    <p:extLst>
      <p:ext uri="{BB962C8B-B14F-4D97-AF65-F5344CB8AC3E}">
        <p14:creationId xmlns:p14="http://schemas.microsoft.com/office/powerpoint/2010/main" val="6639119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«Нейросеть для предсказания победы в </a:t>
            </a:r>
            <a:r>
              <a:rPr lang="ru-RU" sz="4400" dirty="0" err="1">
                <a:solidFill>
                  <a:schemeClr val="bg1"/>
                </a:solidFill>
              </a:rPr>
              <a:t>Dota</a:t>
            </a:r>
            <a:r>
              <a:rPr lang="ru-RU" sz="4400" dirty="0">
                <a:solidFill>
                  <a:schemeClr val="bg1"/>
                </a:solidFill>
              </a:rPr>
              <a:t>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2784152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1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-0.6 (</a:t>
            </a:r>
            <a:r>
              <a:rPr lang="ru-RU" b="1" dirty="0">
                <a:solidFill>
                  <a:schemeClr val="bg1"/>
                </a:solidFill>
              </a:rPr>
              <a:t>меньше </a:t>
            </a:r>
            <a:r>
              <a:rPr lang="ru-RU" b="1" dirty="0" err="1">
                <a:solidFill>
                  <a:schemeClr val="bg1"/>
                </a:solidFill>
              </a:rPr>
              <a:t>фидов</a:t>
            </a:r>
            <a:r>
              <a:rPr lang="ru-RU" b="1" dirty="0">
                <a:solidFill>
                  <a:schemeClr val="bg1"/>
                </a:solidFill>
              </a:rPr>
              <a:t> → меньше </a:t>
            </a:r>
            <a:r>
              <a:rPr lang="ru-RU" b="1" dirty="0" err="1">
                <a:solidFill>
                  <a:schemeClr val="bg1"/>
                </a:solidFill>
              </a:rPr>
              <a:t>тильта</a:t>
            </a:r>
            <a:r>
              <a:rPr lang="ru-RU" b="1" dirty="0">
                <a:solidFill>
                  <a:schemeClr val="bg1"/>
                </a:solidFill>
              </a:rPr>
              <a:t>)</a:t>
            </a:r>
          </a:p>
          <a:p>
            <a:r>
              <a:rPr lang="en-US" b="1" dirty="0">
                <a:solidFill>
                  <a:schemeClr val="bg1"/>
                </a:solidFill>
              </a:rPr>
              <a:t>WR    → -0.4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GPM   → -0.2</a:t>
            </a:r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0F37E40C-6AA1-6E20-1338-5916159D21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475453"/>
              </p:ext>
            </p:extLst>
          </p:nvPr>
        </p:nvGraphicFramePr>
        <p:xfrm>
          <a:off x="5952291" y="6141559"/>
          <a:ext cx="8229600" cy="14630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727226548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1249329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Признак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Смысл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7593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x1 = 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боевой импакт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4376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x2 = </a:t>
                      </a:r>
                      <a:r>
                        <a:rPr lang="en-US" dirty="0" err="1">
                          <a:solidFill>
                            <a:schemeClr val="bg1"/>
                          </a:solidFill>
                        </a:rPr>
                        <a:t>WinRate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общая стабильность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512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x3 = 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фарм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5249150"/>
                  </a:ext>
                </a:extLst>
              </a:tr>
            </a:tbl>
          </a:graphicData>
        </a:graphic>
      </p:graphicFrame>
      <p:sp>
        <p:nvSpPr>
          <p:cNvPr id="8" name="Rectangle 1">
            <a:extLst>
              <a:ext uri="{FF2B5EF4-FFF2-40B4-BE49-F238E27FC236}">
                <a16:creationId xmlns:a16="http://schemas.microsoft.com/office/drawing/2014/main" id="{04EC30D2-D48B-9F73-6F75-A3075C9B4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4026380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2</a:t>
            </a:r>
          </a:p>
          <a:p>
            <a:r>
              <a:rPr lang="ru-RU" b="1" dirty="0">
                <a:solidFill>
                  <a:schemeClr val="bg1"/>
                </a:solidFill>
              </a:rPr>
              <a:t>KDA   → 1.2</a:t>
            </a:r>
          </a:p>
          <a:p>
            <a:r>
              <a:rPr lang="ru-RU" b="1" dirty="0">
                <a:solidFill>
                  <a:schemeClr val="bg1"/>
                </a:solidFill>
              </a:rPr>
              <a:t>WR    → 1.8  ← главный фактор</a:t>
            </a:r>
          </a:p>
          <a:p>
            <a:r>
              <a:rPr lang="ru-RU" b="1" dirty="0">
                <a:solidFill>
                  <a:schemeClr val="bg1"/>
                </a:solidFill>
              </a:rPr>
              <a:t>GPM   → 0.9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EFCC1A1A-CC6F-88A3-CAD5-FDC92A1F1C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5288616"/>
            <a:ext cx="73386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Нейрон 3</a:t>
            </a:r>
          </a:p>
          <a:p>
            <a:r>
              <a:rPr lang="en-US" b="1" dirty="0">
                <a:solidFill>
                  <a:schemeClr val="bg1"/>
                </a:solidFill>
              </a:rPr>
              <a:t>KDA   → 0.3</a:t>
            </a:r>
            <a:endParaRPr lang="ru-RU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WR    → 1.5  ← </a:t>
            </a:r>
            <a:r>
              <a:rPr lang="ru-RU" b="1" dirty="0">
                <a:solidFill>
                  <a:schemeClr val="bg1"/>
                </a:solidFill>
              </a:rPr>
              <a:t>почти всё решает</a:t>
            </a:r>
          </a:p>
          <a:p>
            <a:r>
              <a:rPr lang="en-US" b="1" dirty="0">
                <a:solidFill>
                  <a:schemeClr val="bg1"/>
                </a:solidFill>
              </a:rPr>
              <a:t>GPM   → 0.4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9072B8-A294-49BC-1EA8-329219544F37}"/>
              </a:ext>
            </a:extLst>
          </p:cNvPr>
          <p:cNvSpPr txBox="1"/>
          <p:nvPr/>
        </p:nvSpPr>
        <p:spPr>
          <a:xfrm>
            <a:off x="2323652" y="1051113"/>
            <a:ext cx="1034885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   [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1: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r>
              <a:rPr lang="ru-RU" dirty="0">
                <a:solidFill>
                  <a:srgbClr val="6A9955"/>
                </a:solidFill>
                <a:latin typeface="Consolas" panose="020B0609020204030204" pitchFamily="49" charset="0"/>
              </a:rPr>
              <a:t>.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чем хуже показатели, тем больше риск 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2: вероятность победы 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нейрон 3: моральное состояние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276496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«Нормализация данных»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1E1E38C-0E8B-9CA7-F101-349E48BFF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912" y="1549434"/>
            <a:ext cx="11282923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нормализация входных данных</a:t>
            </a:r>
            <a:r>
              <a:rPr lang="ru-RU" dirty="0">
                <a:solidFill>
                  <a:schemeClr val="bg1"/>
                </a:solidFill>
              </a:rPr>
              <a:t> перед подачей в нейросеть.</a:t>
            </a:r>
          </a:p>
          <a:p>
            <a:r>
              <a:rPr lang="ru-RU" dirty="0">
                <a:solidFill>
                  <a:schemeClr val="bg1"/>
                </a:solidFill>
              </a:rPr>
              <a:t>В нашей сети мы просто умножаем входы на веса и суммируем: </a:t>
            </a:r>
            <a:r>
              <a:rPr lang="pl-PL" dirty="0">
                <a:solidFill>
                  <a:schemeClr val="bg1"/>
                </a:solidFill>
              </a:rPr>
              <a:t>x1*w1 + x2*w2 + x3*w3</a:t>
            </a:r>
            <a:endParaRPr lang="ru-RU" dirty="0">
              <a:solidFill>
                <a:schemeClr val="bg1"/>
              </a:solidFill>
            </a:endParaRPr>
          </a:p>
          <a:p>
            <a:endParaRPr lang="ru-RU" b="1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один вход </a:t>
            </a:r>
            <a:r>
              <a:rPr lang="ru-RU" b="1" dirty="0">
                <a:solidFill>
                  <a:schemeClr val="bg1"/>
                </a:solidFill>
              </a:rPr>
              <a:t>очень большой</a:t>
            </a:r>
            <a:r>
              <a:rPr lang="ru-RU" dirty="0">
                <a:solidFill>
                  <a:schemeClr val="bg1"/>
                </a:solidFill>
              </a:rPr>
              <a:t>, а другой маленький, он </a:t>
            </a:r>
            <a:r>
              <a:rPr lang="ru-RU" b="1" dirty="0">
                <a:solidFill>
                  <a:schemeClr val="bg1"/>
                </a:solidFill>
              </a:rPr>
              <a:t>“забьёт” все остальные</a:t>
            </a:r>
            <a:r>
              <a:rPr lang="ru-RU" dirty="0">
                <a:solidFill>
                  <a:schemeClr val="bg1"/>
                </a:solidFill>
              </a:rPr>
              <a:t>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Пример: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KDA = 2.1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WR = 0.48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GPM = 420</a:t>
            </a:r>
          </a:p>
          <a:p>
            <a:r>
              <a:rPr lang="ru-RU" dirty="0">
                <a:solidFill>
                  <a:schemeClr val="bg1"/>
                </a:solidFill>
              </a:rPr>
              <a:t>Если использовать их напрямую, GPM в 100 раз больше, чем KDA, и “перетянет” результат.</a:t>
            </a:r>
          </a:p>
          <a:p>
            <a:endParaRPr lang="ru-RU" b="1" dirty="0">
              <a:solidFill>
                <a:schemeClr val="bg1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23B465-2852-B492-FFB3-FD93A2FB4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940890"/>
              </p:ext>
            </p:extLst>
          </p:nvPr>
        </p:nvGraphicFramePr>
        <p:xfrm>
          <a:off x="954460" y="4652682"/>
          <a:ext cx="12116640" cy="2560320"/>
        </p:xfrm>
        <a:graphic>
          <a:graphicData uri="http://schemas.openxmlformats.org/drawingml/2006/table">
            <a:tbl>
              <a:tblPr/>
              <a:tblGrid>
                <a:gridCol w="3029160">
                  <a:extLst>
                    <a:ext uri="{9D8B030D-6E8A-4147-A177-3AD203B41FA5}">
                      <a16:colId xmlns:a16="http://schemas.microsoft.com/office/drawing/2014/main" val="1900390826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48218151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3545426739"/>
                    </a:ext>
                  </a:extLst>
                </a:gridCol>
                <a:gridCol w="3029160">
                  <a:extLst>
                    <a:ext uri="{9D8B030D-6E8A-4147-A177-3AD203B41FA5}">
                      <a16:colId xmlns:a16="http://schemas.microsoft.com/office/drawing/2014/main" val="149773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Элемент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Деление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Результат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Пояснение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11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KDA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2.1/5 ≈ 0.42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Приводим KDA к диапазону 0…1, чтобы он был сопоставим с 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848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WR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0.48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WinRate уже в 0…1, делить не нужно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4441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GPM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/600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>
                          <a:solidFill>
                            <a:schemeClr val="bg1"/>
                          </a:solidFill>
                        </a:rPr>
                        <a:t>420/600 ≈ 0.7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bg1"/>
                          </a:solidFill>
                        </a:rPr>
                        <a:t>Приводим GPM к 0…1 масштабу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8843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999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964635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Предсказание / сравнение / обучение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Сравнение позволяет оценить, насколько прогноз «промахнулся». выбор хорошего способа измерения ошибки — одна из самых сложных и важных задач в глубоком обучении.</a:t>
            </a:r>
          </a:p>
          <a:p>
            <a:pPr algn="ctr"/>
            <a:endParaRPr lang="ru-RU" sz="28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 algn="ctr"/>
            <a:r>
              <a:rPr lang="ru-RU" sz="2800" dirty="0">
                <a:solidFill>
                  <a:srgbClr val="CCCCCC"/>
                </a:solidFill>
                <a:latin typeface="Consolas" panose="020B0609020204030204" pitchFamily="49" charset="0"/>
              </a:rPr>
              <a:t>Ошибка всегда положительна</a:t>
            </a:r>
            <a:endParaRPr lang="ru-RU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60D1849A-F849-978F-412C-96C89F468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403" y="4316945"/>
            <a:ext cx="10072415" cy="2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4614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EF3595-F02D-F0AB-6597-396E89A04345}"/>
              </a:ext>
            </a:extLst>
          </p:cNvPr>
          <p:cNvSpPr txBox="1"/>
          <p:nvPr/>
        </p:nvSpPr>
        <p:spPr>
          <a:xfrm>
            <a:off x="625737" y="289929"/>
            <a:ext cx="115304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/>
              <a:t>Среднеквадратическая ошибка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D15CF7-3019-F555-F9A2-598005C97077}"/>
              </a:ext>
            </a:extLst>
          </p:cNvPr>
          <p:cNvSpPr txBox="1"/>
          <p:nvPr/>
        </p:nvSpPr>
        <p:spPr>
          <a:xfrm>
            <a:off x="1241308" y="5516312"/>
            <a:ext cx="85299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Почему именно квадрат?</a:t>
            </a:r>
          </a:p>
          <a:p>
            <a:r>
              <a:rPr lang="ru-RU" dirty="0"/>
              <a:t>Вот 2 главные причины:</a:t>
            </a:r>
          </a:p>
          <a:p>
            <a:pPr>
              <a:buFont typeface="+mj-lt"/>
              <a:buAutoNum type="arabicPeriod"/>
            </a:pPr>
            <a:r>
              <a:rPr lang="ru-RU" dirty="0"/>
              <a:t>Все ошибки становятся положительными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Без квадрата: 0.5 - 1 = -0.5 (отрицательная ошибка)</a:t>
            </a:r>
          </a:p>
          <a:p>
            <a:pPr marL="742950" lvl="1" indent="-285750">
              <a:buFont typeface="+mj-lt"/>
              <a:buAutoNum type="arabicPeriod"/>
            </a:pPr>
            <a:r>
              <a:rPr lang="ru-RU" dirty="0"/>
              <a:t>С квадратом: (-0.5)² = 0.25 (всегда положительная)</a:t>
            </a:r>
          </a:p>
          <a:p>
            <a:pPr>
              <a:buFont typeface="+mj-lt"/>
              <a:buAutoNum type="arabicPeriod"/>
            </a:pPr>
            <a:r>
              <a:rPr lang="ru-RU" dirty="0"/>
              <a:t>Большие ошибки "наказываются" сильнее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713052" y="3249369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Мы кидаем хук, а он летит не в персонажа, а чуть в сторону. MSE — это способ измерить, </a:t>
            </a:r>
            <a:r>
              <a:rPr lang="ru-RU" sz="2800" b="1" dirty="0"/>
              <a:t>насколько сильно вы промахнулись.</a:t>
            </a:r>
          </a:p>
          <a:p>
            <a:pPr algn="ctr"/>
            <a:r>
              <a:rPr lang="ru-RU" sz="2800" dirty="0"/>
              <a:t>Исправление ошибки — это уже задача следующего этапа: обучения.</a:t>
            </a:r>
          </a:p>
        </p:txBody>
      </p:sp>
      <p:pic>
        <p:nvPicPr>
          <p:cNvPr id="3" name="Рисунок 2" descr="Изображение выглядит как снимок экрана, Компьютерная игра, Стратегическая видеоигра, Программное обеспечение для видеоигр&#10;&#10;Автоматически созданное описание">
            <a:extLst>
              <a:ext uri="{FF2B5EF4-FFF2-40B4-BE49-F238E27FC236}">
                <a16:creationId xmlns:a16="http://schemas.microsoft.com/office/drawing/2014/main" id="{23D2C559-00B8-9F67-80C1-2DD58A7F9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2171" y="1354793"/>
            <a:ext cx="57150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997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683950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Обучение. Горячо/холодно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428126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Пожалуй, самая простая форма обучения. Метод обучения «холодно/горячо» очень прост. После получения прогноза вычисляются еще два прогноза, в одном случае с немного увеличенным весом, а в другом — с немного уменьшенным. Затем производится изменение веса в том направлении, которое дало наименьшую ошибку. Многократное повторение этой процедуры в итоге уменьшило ошибку до 0.</a:t>
            </a:r>
          </a:p>
        </p:txBody>
      </p:sp>
    </p:spTree>
    <p:extLst>
      <p:ext uri="{BB962C8B-B14F-4D97-AF65-F5344CB8AC3E}">
        <p14:creationId xmlns:p14="http://schemas.microsoft.com/office/powerpoint/2010/main" val="41363396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811293" y="1738229"/>
            <a:ext cx="1285323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Предположим, что мы пытаемся научить пуджа попадать хуком в другого персонажа, которого мы не видим. Пудж кидает хук и мы видим ошибку, значение, на которое мы промахнулись.</a:t>
            </a:r>
          </a:p>
          <a:p>
            <a:pPr algn="ctr"/>
            <a:r>
              <a:rPr lang="ru-RU" sz="2800" dirty="0"/>
              <a:t>Далее мы делаем два изменения веса – в большую сторону и в меньшую. После каждого изменения делаем ещё хук, получая при этом два значения. </a:t>
            </a:r>
          </a:p>
          <a:p>
            <a:pPr algn="ctr"/>
            <a:r>
              <a:rPr lang="ru-RU" sz="2800" dirty="0"/>
              <a:t>Далее выбирается вес с меньшей ошибкой и алгоритм повторяется заново.</a:t>
            </a:r>
          </a:p>
        </p:txBody>
      </p:sp>
    </p:spTree>
    <p:extLst>
      <p:ext uri="{BB962C8B-B14F-4D97-AF65-F5344CB8AC3E}">
        <p14:creationId xmlns:p14="http://schemas.microsoft.com/office/powerpoint/2010/main" val="5776651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4A277D-79DF-0D51-E669-D5A01F7F9D74}"/>
              </a:ext>
            </a:extLst>
          </p:cNvPr>
          <p:cNvSpPr txBox="1"/>
          <p:nvPr/>
        </p:nvSpPr>
        <p:spPr>
          <a:xfrm>
            <a:off x="652595" y="1354793"/>
            <a:ext cx="1285323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Шаг изменения веса в каждой итерации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1101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Повторить обучение много </a:t>
            </a:r>
            <a:r>
              <a:rPr lang="ru-RU" sz="19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раз,чтобы</a:t>
            </a:r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получить наименьшую ошибку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de-DE" sz="19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увеличить!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Попробовать уменьшить!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down_prediction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de-DE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уменьшение дало лучший результат, то уменьшить</a:t>
            </a:r>
            <a:endParaRPr lang="ru-RU" sz="19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9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down_error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up_error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ru-RU" sz="19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Е</a:t>
            </a:r>
            <a:r>
              <a:rPr lang="de-DE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sz="19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ли увеличение дало лучший результат, то увеличить</a:t>
            </a:r>
            <a:r>
              <a:rPr lang="de-DE" sz="19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652595" y="6504925"/>
            <a:ext cx="1113149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Error:0.3025 Prediction:0.25</a:t>
            </a:r>
          </a:p>
          <a:p>
            <a:r>
              <a:rPr lang="ru-RU" dirty="0"/>
              <a:t>Error:0.30195025 Prediction:0.2505</a:t>
            </a:r>
          </a:p>
          <a:p>
            <a:r>
              <a:rPr lang="ru-RU" dirty="0"/>
              <a:t>Error:2.50000000033e-07 Prediction:0.7995</a:t>
            </a:r>
          </a:p>
          <a:p>
            <a:r>
              <a:rPr lang="ru-RU" dirty="0" err="1"/>
              <a:t>Error</a:t>
            </a:r>
            <a:r>
              <a:rPr lang="ru-RU" dirty="0"/>
              <a:t> :1.07995057925e-27 </a:t>
            </a:r>
            <a:r>
              <a:rPr lang="ru-RU" dirty="0" err="1"/>
              <a:t>Prediction</a:t>
            </a:r>
            <a:r>
              <a:rPr lang="ru-RU" dirty="0"/>
              <a:t>: 0.8 ◄------ На последнем шаге получен точный прогноз 0.8!</a:t>
            </a:r>
          </a:p>
        </p:txBody>
      </p:sp>
    </p:spTree>
    <p:extLst>
      <p:ext uri="{BB962C8B-B14F-4D97-AF65-F5344CB8AC3E}">
        <p14:creationId xmlns:p14="http://schemas.microsoft.com/office/powerpoint/2010/main" val="42550688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20246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Минусы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1: он неэффективен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Этот метод требует вычислить прогноз несколько раз, чтобы один раз изменить. Это решение выглядит очень неэффективным.</a:t>
            </a:r>
          </a:p>
          <a:p>
            <a:pPr algn="just"/>
            <a:endParaRPr lang="ru-RU" sz="2800" dirty="0">
              <a:solidFill>
                <a:schemeClr val="bg1"/>
              </a:solidFill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Проблема 2: иногда невозможно добиться идеальной точности прогнозирования</a:t>
            </a:r>
          </a:p>
          <a:p>
            <a:pPr algn="just"/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При выбранном значении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если только идеальное значение веса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не равно n*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сеть достигнет значения, отстоящего от точного прогноза на некоторую величину меньше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, и начнет колебаться вокруг</a:t>
            </a:r>
          </a:p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goal_prediction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вверх и вниз. Присвойте переменной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значение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0.2, чтобы убедиться в этом. Если для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step_amount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выбрать значение 10, вы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фактически нарушите работу сети. Попробовав сделать так, вы увидите, что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алгоритм даже не пытается приблизиться к 0.8! Проблема в том, что, зная правильное направление для изменения веса, мы не знаем правильной величины этого изменения. </a:t>
            </a:r>
          </a:p>
        </p:txBody>
      </p:sp>
    </p:spTree>
    <p:extLst>
      <p:ext uri="{BB962C8B-B14F-4D97-AF65-F5344CB8AC3E}">
        <p14:creationId xmlns:p14="http://schemas.microsoft.com/office/powerpoint/2010/main" val="1358370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83B378-6260-0EF2-A6BB-718B0EB43E38}"/>
              </a:ext>
            </a:extLst>
          </p:cNvPr>
          <p:cNvSpPr txBox="1"/>
          <p:nvPr/>
        </p:nvSpPr>
        <p:spPr>
          <a:xfrm>
            <a:off x="3574333" y="553037"/>
            <a:ext cx="6876894" cy="6694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0.9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вероятность победы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 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tilt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  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мораль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420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3.4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0.61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510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1.8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0.42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380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4.2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0.73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560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взвешенная сумма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w_sum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вектор * матрица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vect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vect_mat_mul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===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ОБУЧЕНИЕ МЕТОДОМ "ГОРЯЧО-ХОЛОДНО" ===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step_amount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0.01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размер шага</a:t>
            </a:r>
            <a:endParaRPr lang="ru-RU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de-DE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количество проходов по данным</a:t>
            </a:r>
            <a:br>
              <a:rPr lang="ru-RU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=== 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РЕЗУЛЬТАТЫ ПОСЛЕ ОБУЧЕНИЯ ===</a:t>
            </a:r>
            <a:r>
              <a:rPr lang="ru-RU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KDA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WR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GPM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600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input_data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weights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2.5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1.5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:.3f}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цель: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3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Факт: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WIN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, 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endParaRPr lang="de-DE" sz="13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Предсказание: </a:t>
            </a:r>
            <a:r>
              <a:rPr lang="ru-RU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WIN'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'LOSE'</a:t>
            </a:r>
            <a:r>
              <a:rPr lang="de-DE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de-DE" sz="13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de-DE" sz="13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3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11503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049133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1 вход 1 нейрон 1 вес и градиентный спуск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1083346" y="1138064"/>
            <a:ext cx="128532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Измерим ошибку и определим направление и величину изменения!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942CA4-3D3C-AE19-4620-3267BAAE18F5}"/>
              </a:ext>
            </a:extLst>
          </p:cNvPr>
          <p:cNvSpPr txBox="1"/>
          <p:nvPr/>
        </p:nvSpPr>
        <p:spPr>
          <a:xfrm>
            <a:off x="1083345" y="1483378"/>
            <a:ext cx="1003372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0.8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iteration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ru-RU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sym typeface="Wingdings" panose="05000000000000000000" pitchFamily="2" charset="2"/>
              </a:rPr>
              <a:t>----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direction_and_amount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"Error:"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 Prediction:"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9C5501-86CA-956D-DEB2-950273680EED}"/>
              </a:ext>
            </a:extLst>
          </p:cNvPr>
          <p:cNvSpPr txBox="1"/>
          <p:nvPr/>
        </p:nvSpPr>
        <p:spPr>
          <a:xfrm>
            <a:off x="790340" y="5016403"/>
            <a:ext cx="1285323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Перед вами более эффективный метод обучения, известный как градиентный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спуск. Этот метод позволяет в одной строке кода (выделена стрелкой) вычислить сразу и направление, и величину изменения веса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для уменьшения</a:t>
            </a:r>
          </a:p>
          <a:p>
            <a:pPr algn="ctr"/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ошибки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error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43186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D803A3-C3E3-EFC9-3CEE-F2A45AAA6CB0}"/>
              </a:ext>
            </a:extLst>
          </p:cNvPr>
          <p:cNvSpPr txBox="1"/>
          <p:nvPr/>
        </p:nvSpPr>
        <p:spPr>
          <a:xfrm>
            <a:off x="509010" y="2094191"/>
            <a:ext cx="77357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/>
              <a:t>Переменная </a:t>
            </a:r>
            <a:r>
              <a:rPr lang="ru-RU" dirty="0" err="1"/>
              <a:t>direction_and_amount</a:t>
            </a:r>
            <a:r>
              <a:rPr lang="ru-RU" dirty="0"/>
              <a:t> представляет, как должен измениться вес. Чтобы получить ее значение, код сначала О вычисляет чистую ошибку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). А затем О умножает ее на </a:t>
            </a:r>
            <a:r>
              <a:rPr lang="ru-RU" dirty="0" err="1"/>
              <a:t>input</a:t>
            </a:r>
            <a:r>
              <a:rPr lang="ru-RU" dirty="0"/>
              <a:t>, чтобы выполнить масштабирование, обращение знака и остановку, превращая чистую ошибку в значение, пригодное для изменения </a:t>
            </a:r>
            <a:r>
              <a:rPr lang="ru-RU" dirty="0" err="1"/>
              <a:t>weight</a:t>
            </a:r>
            <a:r>
              <a:rPr lang="ru-RU" dirty="0"/>
              <a:t>.</a:t>
            </a:r>
          </a:p>
          <a:p>
            <a:pPr algn="just"/>
            <a:endParaRPr lang="ru-RU" dirty="0"/>
          </a:p>
          <a:p>
            <a:pPr algn="just"/>
            <a:r>
              <a:rPr lang="ru-RU" dirty="0"/>
              <a:t>Чистая ошибка — это разность (</a:t>
            </a:r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goal_pred</a:t>
            </a:r>
            <a:r>
              <a:rPr lang="ru-RU" dirty="0"/>
              <a:t>), определяющая направление и величину промаха. Если это положительное число, значит, прогноз слишком велик, и наоборот. Если это большое число, значит, вы сильно промахнулись, и так далее.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EAFE1C-5211-4893-C6F7-170188F30290}"/>
              </a:ext>
            </a:extLst>
          </p:cNvPr>
          <p:cNvSpPr txBox="1"/>
          <p:nvPr/>
        </p:nvSpPr>
        <p:spPr>
          <a:xfrm>
            <a:off x="8753371" y="2373801"/>
            <a:ext cx="53818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1200" b="0" dirty="0">
                <a:effectLst/>
                <a:latin typeface="Consolas" panose="020B0609020204030204" pitchFamily="49" charset="0"/>
              </a:rPr>
            </a:br>
            <a:r>
              <a:rPr lang="en-US" sz="1200" b="0" dirty="0">
                <a:effectLst/>
                <a:latin typeface="Consolas" panose="020B0609020204030204" pitchFamily="49" charset="0"/>
              </a:rPr>
              <a:t>weight =0.5</a:t>
            </a:r>
          </a:p>
          <a:p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=0.8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input =0.5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for iteration in range(20):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pred = input * weight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error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** 2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 = (pred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goal_pred</a:t>
            </a:r>
            <a:r>
              <a:rPr lang="en-US" sz="1200" b="0" dirty="0">
                <a:effectLst/>
                <a:latin typeface="Consolas" panose="020B0609020204030204" pitchFamily="49" charset="0"/>
              </a:rPr>
              <a:t>) * input</a:t>
            </a: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weight = weight - </a:t>
            </a:r>
            <a:r>
              <a:rPr lang="en-US" sz="1200" b="0" dirty="0" err="1">
                <a:effectLst/>
                <a:latin typeface="Consolas" panose="020B0609020204030204" pitchFamily="49" charset="0"/>
              </a:rPr>
              <a:t>direction_and_amount</a:t>
            </a:r>
            <a:endParaRPr lang="en-US" sz="1200" b="0" dirty="0">
              <a:effectLst/>
              <a:latin typeface="Consolas" panose="020B0609020204030204" pitchFamily="49" charset="0"/>
            </a:endParaRPr>
          </a:p>
          <a:p>
            <a:r>
              <a:rPr lang="en-US" sz="1200" b="0" dirty="0">
                <a:effectLst/>
                <a:latin typeface="Consolas" panose="020B0609020204030204" pitchFamily="49" charset="0"/>
              </a:rPr>
              <a:t>    print("Error:" + str(error) + " Prediction:" + str(pred))</a:t>
            </a:r>
          </a:p>
        </p:txBody>
      </p:sp>
    </p:spTree>
    <p:extLst>
      <p:ext uri="{BB962C8B-B14F-4D97-AF65-F5344CB8AC3E}">
        <p14:creationId xmlns:p14="http://schemas.microsoft.com/office/powerpoint/2010/main" val="16170207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Масшабирование</a:t>
            </a:r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означает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насколько сильно менять вес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 градиентном спуске это делает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вход (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).</a:t>
            </a: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en-US" sz="2800" dirty="0">
                <a:solidFill>
                  <a:schemeClr val="bg1"/>
                </a:solidFill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endParaRPr lang="ru-RU" sz="2800" b="1" dirty="0">
              <a:solidFill>
                <a:schemeClr val="bg1"/>
              </a:solidFill>
              <a:latin typeface="+mj-lt"/>
            </a:endParaRP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большой → изменение веса будет большим.</a:t>
            </a:r>
          </a:p>
          <a:p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Если </a:t>
            </a:r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маленький → изменение веса будет маленьким.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0.1 → маленькое изменение веса</a:t>
            </a:r>
          </a:p>
          <a:p>
            <a:r>
              <a:rPr lang="ru-RU" sz="2800" b="0" dirty="0" err="1">
                <a:solidFill>
                  <a:schemeClr val="bg1"/>
                </a:solidFill>
                <a:effectLst/>
                <a:latin typeface="+mj-lt"/>
              </a:rPr>
              <a:t>input</a:t>
            </a:r>
            <a:r>
              <a:rPr lang="ru-RU" sz="2800" b="0" dirty="0">
                <a:solidFill>
                  <a:schemeClr val="bg1"/>
                </a:solidFill>
                <a:effectLst/>
                <a:latin typeface="+mj-lt"/>
              </a:rPr>
              <a:t> = 10  → большое изменение веса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То есть </a:t>
            </a:r>
            <a:r>
              <a:rPr lang="ru-RU" sz="2800" b="1" dirty="0" err="1">
                <a:solidFill>
                  <a:schemeClr val="bg1"/>
                </a:solidFill>
                <a:latin typeface="+mj-lt"/>
              </a:rPr>
              <a:t>input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 масштабирует изменение веса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Поэтому это называют </a:t>
            </a:r>
            <a:r>
              <a:rPr lang="ru-RU" sz="2800" b="1" dirty="0">
                <a:solidFill>
                  <a:schemeClr val="bg1"/>
                </a:solidFill>
                <a:latin typeface="+mj-lt"/>
              </a:rPr>
              <a:t>масштабирование</a:t>
            </a:r>
            <a:r>
              <a:rPr lang="ru-RU" sz="2800" dirty="0">
                <a:solidFill>
                  <a:schemeClr val="bg1"/>
                </a:solidFill>
                <a:latin typeface="+mj-lt"/>
              </a:rPr>
              <a:t>.</a:t>
            </a:r>
          </a:p>
          <a:p>
            <a:endParaRPr lang="ru-RU" sz="2800" b="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452631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297412" y="407076"/>
            <a:ext cx="126250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Масштабирование, обращение знака и остановка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Это отвечает за направление движения веса.</a:t>
            </a:r>
          </a:p>
          <a:p>
            <a:r>
              <a:rPr lang="ru-RU" sz="2800" dirty="0"/>
              <a:t>Посмотрим на часть формулы:</a:t>
            </a:r>
          </a:p>
          <a:p>
            <a:endParaRPr lang="ru-RU" sz="2800" dirty="0"/>
          </a:p>
          <a:p>
            <a:r>
              <a:rPr lang="de-DE" sz="2800" dirty="0"/>
              <a:t>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goal_pred</a:t>
            </a:r>
            <a:r>
              <a:rPr lang="de-DE" sz="2800" dirty="0"/>
              <a:t>)</a:t>
            </a:r>
            <a:endParaRPr lang="ru-RU" sz="2800" dirty="0"/>
          </a:p>
          <a:p>
            <a:r>
              <a:rPr lang="ru-RU" sz="2800" dirty="0"/>
              <a:t>Возможны два случая.</a:t>
            </a:r>
          </a:p>
          <a:p>
            <a:r>
              <a:rPr lang="ru-RU" sz="2800" dirty="0"/>
              <a:t>Случай 1 — предсказание слишком большое – вес уменьшается</a:t>
            </a:r>
          </a:p>
          <a:p>
            <a:endParaRPr lang="ru-RU" sz="2800" dirty="0"/>
          </a:p>
          <a:p>
            <a:endParaRPr lang="ru-RU" sz="2800" dirty="0"/>
          </a:p>
          <a:p>
            <a:r>
              <a:rPr lang="ru-RU" sz="2800" dirty="0"/>
              <a:t>Случай 2 — предсказание слишком маленькое – вес увеличивается</a:t>
            </a:r>
          </a:p>
          <a:p>
            <a:endParaRPr lang="ru-RU" sz="2800" dirty="0"/>
          </a:p>
          <a:p>
            <a:r>
              <a:rPr lang="ru-RU" sz="2800" dirty="0"/>
              <a:t>То есть знак ошибки переворачивает направление движения веса.</a:t>
            </a:r>
          </a:p>
          <a:p>
            <a:r>
              <a:rPr lang="ru-RU" sz="2800" dirty="0"/>
              <a:t>Это и называют обращение знака.</a:t>
            </a:r>
          </a:p>
          <a:p>
            <a:endParaRPr lang="ru-RU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2C0D62-A878-39FA-44BB-19947D9ECA54}"/>
              </a:ext>
            </a:extLst>
          </p:cNvPr>
          <p:cNvSpPr txBox="1"/>
          <p:nvPr/>
        </p:nvSpPr>
        <p:spPr>
          <a:xfrm>
            <a:off x="11222182" y="3416280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1.2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+0.2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291A78-DB7D-15C3-C86C-09EFA8046150}"/>
              </a:ext>
            </a:extLst>
          </p:cNvPr>
          <p:cNvSpPr txBox="1"/>
          <p:nvPr/>
        </p:nvSpPr>
        <p:spPr>
          <a:xfrm>
            <a:off x="11214625" y="4736845"/>
            <a:ext cx="20422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pred</a:t>
            </a:r>
            <a:r>
              <a:rPr lang="ru-RU" dirty="0"/>
              <a:t> = 0.5</a:t>
            </a:r>
          </a:p>
          <a:p>
            <a:r>
              <a:rPr lang="ru-RU" dirty="0" err="1"/>
              <a:t>goal</a:t>
            </a:r>
            <a:r>
              <a:rPr lang="ru-RU" dirty="0"/>
              <a:t> = 1.0</a:t>
            </a:r>
          </a:p>
          <a:p>
            <a:r>
              <a:rPr lang="ru-RU" dirty="0" err="1"/>
              <a:t>pred</a:t>
            </a:r>
            <a:r>
              <a:rPr lang="ru-RU" dirty="0"/>
              <a:t> - </a:t>
            </a:r>
            <a:r>
              <a:rPr lang="ru-RU" dirty="0" err="1"/>
              <a:t>goal</a:t>
            </a:r>
            <a:r>
              <a:rPr lang="ru-RU" dirty="0"/>
              <a:t> = -0.5</a:t>
            </a:r>
          </a:p>
        </p:txBody>
      </p:sp>
    </p:spTree>
    <p:extLst>
      <p:ext uri="{BB962C8B-B14F-4D97-AF65-F5344CB8AC3E}">
        <p14:creationId xmlns:p14="http://schemas.microsoft.com/office/powerpoint/2010/main" val="10213261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1217096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Масштабирование, обращение знака и остановка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>
            <a:off x="625737" y="1698754"/>
            <a:ext cx="1285323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Остановка (</a:t>
            </a:r>
            <a:r>
              <a:rPr lang="de-DE" sz="2800" dirty="0" err="1">
                <a:solidFill>
                  <a:schemeClr val="bg1"/>
                </a:solidFill>
                <a:latin typeface="+mj-lt"/>
              </a:rPr>
              <a:t>stopping</a:t>
            </a:r>
            <a:r>
              <a:rPr lang="de-DE" sz="2800" dirty="0">
                <a:solidFill>
                  <a:schemeClr val="bg1"/>
                </a:solidFill>
                <a:latin typeface="+mj-lt"/>
              </a:rPr>
              <a:t>)</a:t>
            </a:r>
            <a:endParaRPr lang="ru-RU" sz="2800" dirty="0">
              <a:solidFill>
                <a:schemeClr val="bg1"/>
              </a:solidFill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Это происходит, когда ошибка становится нулевой.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Например: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pred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(pred - </a:t>
            </a:r>
            <a:r>
              <a:rPr lang="en-US" sz="2800" dirty="0" err="1">
                <a:solidFill>
                  <a:schemeClr val="bg1"/>
                </a:solidFill>
                <a:effectLst/>
                <a:latin typeface="+mj-lt"/>
              </a:rPr>
              <a:t>goal_pred</a:t>
            </a:r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) * input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en-US" sz="2800" dirty="0">
                <a:solidFill>
                  <a:schemeClr val="bg1"/>
                </a:solidFill>
                <a:effectLst/>
                <a:latin typeface="+mj-lt"/>
              </a:rPr>
              <a:t>gradient =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pPr algn="just"/>
            <a:r>
              <a:rPr lang="ru-RU" sz="2800" dirty="0">
                <a:solidFill>
                  <a:schemeClr val="bg1"/>
                </a:solidFill>
                <a:latin typeface="+mj-lt"/>
              </a:rPr>
              <a:t>И обновление веса:</a:t>
            </a:r>
          </a:p>
          <a:p>
            <a:pPr algn="just"/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= </a:t>
            </a:r>
            <a:r>
              <a:rPr lang="de-DE" sz="2800" dirty="0" err="1">
                <a:solidFill>
                  <a:schemeClr val="bg1"/>
                </a:solidFill>
                <a:effectLst/>
                <a:latin typeface="+mj-lt"/>
              </a:rPr>
              <a:t>weight</a:t>
            </a:r>
            <a:r>
              <a:rPr lang="de-DE" sz="2800" dirty="0">
                <a:solidFill>
                  <a:schemeClr val="bg1"/>
                </a:solidFill>
                <a:effectLst/>
                <a:latin typeface="+mj-lt"/>
              </a:rPr>
              <a:t> – 0</a:t>
            </a:r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Вес перестаёт меняться.</a:t>
            </a:r>
          </a:p>
          <a:p>
            <a:r>
              <a:rPr lang="ru-RU" sz="2800" dirty="0">
                <a:solidFill>
                  <a:schemeClr val="bg1"/>
                </a:solidFill>
                <a:latin typeface="+mj-lt"/>
              </a:rPr>
              <a:t>Обучение автоматически останавливается.</a:t>
            </a:r>
          </a:p>
          <a:p>
            <a:pPr algn="just"/>
            <a:endParaRPr lang="ru-RU" sz="2800" dirty="0">
              <a:solidFill>
                <a:schemeClr val="bg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764642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2" y="330403"/>
            <a:ext cx="59446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Всё в одной строке</a:t>
            </a:r>
            <a:endParaRPr lang="ru-RU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CB2A4C-0964-68F5-75E3-8DFAC52581C6}"/>
              </a:ext>
            </a:extLst>
          </p:cNvPr>
          <p:cNvSpPr txBox="1"/>
          <p:nvPr/>
        </p:nvSpPr>
        <p:spPr>
          <a:xfrm>
            <a:off x="588442" y="1573752"/>
            <a:ext cx="1285323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 err="1"/>
              <a:t>gradient</a:t>
            </a:r>
            <a:r>
              <a:rPr lang="de-DE" sz="2800" dirty="0"/>
              <a:t> = (</a:t>
            </a:r>
            <a:r>
              <a:rPr lang="de-DE" sz="2800" dirty="0" err="1"/>
              <a:t>pred</a:t>
            </a:r>
            <a:r>
              <a:rPr lang="de-DE" sz="2800" dirty="0"/>
              <a:t> - </a:t>
            </a:r>
            <a:r>
              <a:rPr lang="de-DE" sz="2800" dirty="0" err="1"/>
              <a:t>goal</a:t>
            </a:r>
            <a:r>
              <a:rPr lang="de-DE" sz="2800" dirty="0"/>
              <a:t>) * </a:t>
            </a:r>
            <a:r>
              <a:rPr lang="de-DE" sz="2800" dirty="0" err="1"/>
              <a:t>input</a:t>
            </a:r>
            <a:endParaRPr lang="ru-RU" sz="2800" dirty="0"/>
          </a:p>
          <a:p>
            <a:endParaRPr lang="ru-RU" sz="2800" dirty="0"/>
          </a:p>
          <a:p>
            <a:endParaRPr lang="ru-RU" sz="2800" dirty="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85EB9F25-9073-EC58-E2F8-73DB100128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441366"/>
              </p:ext>
            </p:extLst>
          </p:nvPr>
        </p:nvGraphicFramePr>
        <p:xfrm>
          <a:off x="2900261" y="3199654"/>
          <a:ext cx="8229600" cy="201168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320463079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7122798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Часть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что делает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391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(pred - goal)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выбирает направление (обращение знака)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8529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/>
                        <a:t>определяет размер шага (масштабирование)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4615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/>
                        <a:t>pred = 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обучение останавливается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9277307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58A5F25A-55C4-BCA7-7199-BBFE016FAA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227" y="2116604"/>
            <a:ext cx="605695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делает сразу три вещи: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6564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768774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Сломанные градиентный спуск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BC596-FBD8-97DD-BA0D-10095D714FDB}"/>
              </a:ext>
            </a:extLst>
          </p:cNvPr>
          <p:cNvSpPr txBox="1"/>
          <p:nvPr/>
        </p:nvSpPr>
        <p:spPr>
          <a:xfrm rot="1123665">
            <a:off x="10903291" y="1093184"/>
            <a:ext cx="33492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Result too large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625737" y="1256632"/>
            <a:ext cx="1285323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Error:6.67087267987e+14 Prediction:-25828031.8</a:t>
            </a:r>
          </a:p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Error:6.00378541188e+15 Prediction:77484098.6</a:t>
            </a:r>
          </a:p>
          <a:p>
            <a:pPr algn="just"/>
            <a:r>
              <a:rPr lang="es-E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Error:5.40340687069e+16 Prediction:-232452292.6</a:t>
            </a:r>
            <a:endParaRPr lang="ru-RU" sz="28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algn="just"/>
            <a:endParaRPr lang="ru-RU" sz="28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just"/>
            <a:endParaRPr lang="ru-RU" sz="2800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Результаты прыгают из отрицательных значений в положительные и из положительных в отрицательные, все дальше уходя от истины. Иначе говоря, происходит все более избыточная коррекция веса.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Что же случилось на самом деле? Взрывное расхождение оценки ошибки вызвано увеличением входного значения. Посмотрим, как происходит изменение веса в этом случае:</a:t>
            </a:r>
          </a:p>
          <a:p>
            <a:pPr algn="ctr"/>
            <a:r>
              <a:rPr lang="en-U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weight = weight - (input * (pred - </a:t>
            </a:r>
            <a:r>
              <a:rPr lang="en-US" sz="28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goal_pred</a:t>
            </a:r>
            <a:r>
              <a:rPr lang="en-US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11690681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Избыточная коррекция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625737" y="1256632"/>
            <a:ext cx="12853238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weight = weight - (input * (pred - </a:t>
            </a:r>
            <a:r>
              <a:rPr lang="en-US" sz="2800" dirty="0" err="1"/>
              <a:t>goal_pred</a:t>
            </a:r>
            <a:r>
              <a:rPr lang="en-US" sz="2800" dirty="0"/>
              <a:t>)</a:t>
            </a:r>
            <a:endParaRPr lang="ru-RU" sz="2800" b="1" dirty="0"/>
          </a:p>
          <a:p>
            <a:pPr algn="just"/>
            <a:endParaRPr lang="ru-RU" sz="2800" b="0" dirty="0">
              <a:effectLst/>
              <a:latin typeface="Consolas" panose="020B0609020204030204" pitchFamily="49" charset="0"/>
            </a:endParaRPr>
          </a:p>
          <a:p>
            <a:pPr algn="just"/>
            <a:r>
              <a:rPr lang="ru-RU" sz="2800" b="0" dirty="0">
                <a:effectLst/>
                <a:latin typeface="Consolas" panose="020B0609020204030204" pitchFamily="49" charset="0"/>
              </a:rPr>
              <a:t>Если входное значение достаточно велико, это может вызвать значительное увеличение веса даже при маленьком значении ошибки. Что происходит, когда вес изменяется на значительную величину при маленьком значении ошибки? А происходит избыточная коррекция веса в сети. Если новая ошибка станет больше, коррекция окажется еще более избыточной. 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27717A-92A1-FA81-7C74-B72B3DA509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10" y="4496430"/>
            <a:ext cx="5342082" cy="321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5937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50834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Альфа-коэффициент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625737" y="1256632"/>
            <a:ext cx="1285323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Это самый простой способ предотвратить избыточную коррекцию весов.</a:t>
            </a:r>
          </a:p>
          <a:p>
            <a:pPr algn="just"/>
            <a:r>
              <a:rPr lang="ru-RU" sz="28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В чем выражается проблема, которую мы пытаемся решить? При большом входном значении может происходить избыточная коррекция весов. Как это проявляется? Величина производной в новой точке будет превосходить величину прежней производной (хотя и с другим знаком).</a:t>
            </a:r>
            <a:endParaRPr lang="en-US" sz="2800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9524495-68B2-FBFA-1287-176D1A66D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315" y="4365175"/>
            <a:ext cx="5342082" cy="32137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147323-93E9-E585-4ED2-366C579BF367}"/>
              </a:ext>
            </a:extLst>
          </p:cNvPr>
          <p:cNvSpPr txBox="1"/>
          <p:nvPr/>
        </p:nvSpPr>
        <p:spPr>
          <a:xfrm>
            <a:off x="477158" y="5127310"/>
            <a:ext cx="33920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Выполнив шаг 2, мы оказываемся от цели дальше, чем были, а это означает, что абсолютная величина производной увеличилась.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A8FC3-84AB-A81D-419A-B77053228A93}"/>
              </a:ext>
            </a:extLst>
          </p:cNvPr>
          <p:cNvSpPr txBox="1"/>
          <p:nvPr/>
        </p:nvSpPr>
        <p:spPr>
          <a:xfrm>
            <a:off x="10086935" y="5127310"/>
            <a:ext cx="3392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dirty="0">
                <a:solidFill>
                  <a:schemeClr val="bg1"/>
                </a:solidFill>
                <a:latin typeface="Consolas" panose="020B0609020204030204" pitchFamily="49" charset="0"/>
              </a:rPr>
              <a:t>В</a:t>
            </a:r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ыполнив шаг 3, мы оказываемся еще дальше от</a:t>
            </a:r>
          </a:p>
          <a:p>
            <a:pPr algn="just"/>
            <a:r>
              <a:rPr lang="ru-R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цели, чем даже на шаге 2, и нейронная сеть продолжает отклоняться все больше и больше, демонстрируя расхождение.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0234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77F26D-0F9B-DFF5-2FB4-9E508F48AFC7}"/>
              </a:ext>
            </a:extLst>
          </p:cNvPr>
          <p:cNvSpPr txBox="1"/>
          <p:nvPr/>
        </p:nvSpPr>
        <p:spPr>
          <a:xfrm>
            <a:off x="705491" y="330403"/>
            <a:ext cx="1140841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dirty="0"/>
              <a:t>Альфа-коэффициент</a:t>
            </a:r>
            <a:r>
              <a:rPr lang="en-US" sz="4400" dirty="0"/>
              <a:t> (</a:t>
            </a:r>
            <a:r>
              <a:rPr lang="ru-RU" sz="4400" dirty="0"/>
              <a:t>или скорость обучения)</a:t>
            </a:r>
            <a:endParaRPr lang="ru-RU" sz="4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5FF7EB-3CCB-A00B-4578-2EABF116CB64}"/>
              </a:ext>
            </a:extLst>
          </p:cNvPr>
          <p:cNvSpPr txBox="1"/>
          <p:nvPr/>
        </p:nvSpPr>
        <p:spPr>
          <a:xfrm>
            <a:off x="625737" y="1354793"/>
            <a:ext cx="12853238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Решение проблемы заключается в том, чтобы умножить величину изменения веса на некоторый коэффициент, чтобы сделать ее меньше. В большинстве случаев достаточно умножить величину изменения веса на одно вещественное число в диапазоне от 0 до 1. Часто это число называют альфа-коэффициентом.</a:t>
            </a:r>
          </a:p>
          <a:p>
            <a:pPr algn="ctr"/>
            <a:endParaRPr lang="ru-RU" sz="2800" b="0" dirty="0">
              <a:effectLst/>
              <a:latin typeface="Consolas" panose="020B0609020204030204" pitchFamily="49" charset="0"/>
            </a:endParaRPr>
          </a:p>
          <a:p>
            <a:pPr algn="ctr"/>
            <a:endParaRPr lang="ru-RU" sz="2800" dirty="0">
              <a:latin typeface="Consolas" panose="020B0609020204030204" pitchFamily="49" charset="0"/>
            </a:endParaRPr>
          </a:p>
          <a:p>
            <a:pPr algn="ctr"/>
            <a:r>
              <a:rPr lang="ru-RU" sz="2800" b="0" dirty="0">
                <a:effectLst/>
                <a:latin typeface="Consolas" panose="020B0609020204030204" pitchFamily="49" charset="0"/>
              </a:rPr>
              <a:t>Выбор соответствующего альфа-коэффициента, даже для современных нейронных сетей, часто производится наугад. Вы смотрите, как изменяется ошибка с каждой итерацией, и если начинает наблюдаться расхождение, значит, альфа-коэффициент слишком велик и его следует уменьшить. Если обучение происходит слишком медленно, значит, альфа-коэффициент слишком мал и его следует увеличить.</a:t>
            </a:r>
            <a:endParaRPr lang="en-US" sz="28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2923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15D28A-F529-C361-6B0C-54FC6D10368B}"/>
              </a:ext>
            </a:extLst>
          </p:cNvPr>
          <p:cNvSpPr txBox="1"/>
          <p:nvPr/>
        </p:nvSpPr>
        <p:spPr>
          <a:xfrm>
            <a:off x="625737" y="289929"/>
            <a:ext cx="2453557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Куда его?</a:t>
            </a:r>
            <a:endParaRPr lang="ru-RU" sz="4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EF13E-1348-A107-CAB6-C1C6A4588BF2}"/>
              </a:ext>
            </a:extLst>
          </p:cNvPr>
          <p:cNvSpPr txBox="1"/>
          <p:nvPr/>
        </p:nvSpPr>
        <p:spPr>
          <a:xfrm>
            <a:off x="541114" y="1214289"/>
            <a:ext cx="75449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epoch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epochs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total_error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)):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sales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neural_network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total_error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error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direction_and_amount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pred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price</a:t>
            </a:r>
            <a:b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weight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alpha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direction_and_amount</a:t>
            </a:r>
            <a:endParaRPr lang="en-US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369A3A-A82E-55AF-D5B5-0E7E954B3D1B}"/>
              </a:ext>
            </a:extLst>
          </p:cNvPr>
          <p:cNvSpPr txBox="1"/>
          <p:nvPr/>
        </p:nvSpPr>
        <p:spPr>
          <a:xfrm>
            <a:off x="541114" y="4540201"/>
            <a:ext cx="60380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Теперь шаг маленький:</a:t>
            </a:r>
          </a:p>
          <a:p>
            <a:r>
              <a:rPr lang="en-US" dirty="0">
                <a:solidFill>
                  <a:schemeClr val="bg1"/>
                </a:solidFill>
              </a:rPr>
              <a:t>weight = weight - alpha * gradient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Если </a:t>
            </a:r>
            <a:r>
              <a:rPr lang="en-US" dirty="0">
                <a:solidFill>
                  <a:schemeClr val="bg1"/>
                </a:solidFill>
              </a:rPr>
              <a:t>gradient = -1012</a:t>
            </a:r>
            <a:r>
              <a:rPr lang="ru-RU" dirty="0">
                <a:solidFill>
                  <a:schemeClr val="bg1"/>
                </a:solidFill>
              </a:rPr>
              <a:t> и </a:t>
            </a:r>
            <a:r>
              <a:rPr lang="en-US" dirty="0">
                <a:solidFill>
                  <a:schemeClr val="bg1"/>
                </a:solidFill>
              </a:rPr>
              <a:t>alpha = 0.0001</a:t>
            </a:r>
            <a:r>
              <a:rPr lang="ru-RU" dirty="0">
                <a:solidFill>
                  <a:schemeClr val="bg1"/>
                </a:solidFill>
              </a:rPr>
              <a:t>. То </a:t>
            </a:r>
            <a:r>
              <a:rPr lang="en-US" dirty="0">
                <a:solidFill>
                  <a:schemeClr val="bg1"/>
                </a:solidFill>
              </a:rPr>
              <a:t>weight = -0.1012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Вес меняется плавно, а не прыгает на тысячи.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D15312-47C6-35F3-DB42-A2C378226C51}"/>
              </a:ext>
            </a:extLst>
          </p:cNvPr>
          <p:cNvSpPr txBox="1"/>
          <p:nvPr/>
        </p:nvSpPr>
        <p:spPr>
          <a:xfrm rot="1578714">
            <a:off x="10509554" y="1271366"/>
            <a:ext cx="38389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Градиент показывает направление.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 err="1">
                <a:solidFill>
                  <a:schemeClr val="bg1"/>
                </a:solidFill>
              </a:rPr>
              <a:t>alpha</a:t>
            </a:r>
            <a:r>
              <a:rPr lang="ru-RU" dirty="0">
                <a:solidFill>
                  <a:schemeClr val="bg1"/>
                </a:solidFill>
              </a:rPr>
              <a:t> показывает размер шага.</a:t>
            </a:r>
          </a:p>
        </p:txBody>
      </p:sp>
    </p:spTree>
    <p:extLst>
      <p:ext uri="{BB962C8B-B14F-4D97-AF65-F5344CB8AC3E}">
        <p14:creationId xmlns:p14="http://schemas.microsoft.com/office/powerpoint/2010/main" val="6915184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C94DDE-3021-A7B8-613F-8CDEE0F3BF48}"/>
              </a:ext>
            </a:extLst>
          </p:cNvPr>
          <p:cNvSpPr txBox="1"/>
          <p:nvPr/>
        </p:nvSpPr>
        <p:spPr>
          <a:xfrm>
            <a:off x="442912" y="281672"/>
            <a:ext cx="131397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400" b="1" dirty="0">
                <a:solidFill>
                  <a:schemeClr val="bg1"/>
                </a:solidFill>
              </a:rPr>
              <a:t>Пробуем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EB8301-CC7D-A7A3-15C3-810BE0BC42DA}"/>
              </a:ext>
            </a:extLst>
          </p:cNvPr>
          <p:cNvSpPr txBox="1"/>
          <p:nvPr/>
        </p:nvSpPr>
        <p:spPr>
          <a:xfrm>
            <a:off x="541114" y="1887685"/>
            <a:ext cx="746933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Добавим в код </a:t>
            </a:r>
            <a:r>
              <a:rPr lang="en-US" sz="2800" dirty="0">
                <a:solidFill>
                  <a:schemeClr val="bg1"/>
                </a:solidFill>
              </a:rPr>
              <a:t>alpha </a:t>
            </a:r>
            <a:r>
              <a:rPr lang="ru-RU" sz="2800" dirty="0">
                <a:solidFill>
                  <a:schemeClr val="bg1"/>
                </a:solidFill>
              </a:rPr>
              <a:t>и </a:t>
            </a:r>
            <a:r>
              <a:rPr lang="en-US" sz="2800" dirty="0">
                <a:solidFill>
                  <a:schemeClr val="bg1"/>
                </a:solidFill>
              </a:rPr>
              <a:t>bias</a:t>
            </a:r>
            <a:r>
              <a:rPr lang="ru-RU" sz="2800" dirty="0">
                <a:solidFill>
                  <a:schemeClr val="bg1"/>
                </a:solidFill>
              </a:rPr>
              <a:t> (если его нет)</a:t>
            </a:r>
          </a:p>
          <a:p>
            <a:r>
              <a:rPr lang="ru-RU" sz="2800" dirty="0">
                <a:solidFill>
                  <a:schemeClr val="bg1"/>
                </a:solidFill>
              </a:rPr>
              <a:t>Сделаем на несколько нейронов</a:t>
            </a:r>
          </a:p>
        </p:txBody>
      </p:sp>
    </p:spTree>
    <p:extLst>
      <p:ext uri="{BB962C8B-B14F-4D97-AF65-F5344CB8AC3E}">
        <p14:creationId xmlns:p14="http://schemas.microsoft.com/office/powerpoint/2010/main" val="3956513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3210</TotalTime>
  <Words>4545</Words>
  <Application>Microsoft Office PowerPoint</Application>
  <PresentationFormat>Произвольный</PresentationFormat>
  <Paragraphs>435</Paragraphs>
  <Slides>44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48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388</cp:revision>
  <dcterms:created xsi:type="dcterms:W3CDTF">2013-01-27T09:14:16Z</dcterms:created>
  <dcterms:modified xsi:type="dcterms:W3CDTF">2026-03-28T20:28:53Z</dcterms:modified>
  <cp:category/>
</cp:coreProperties>
</file>